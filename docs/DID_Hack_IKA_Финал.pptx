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адача" id="{249c17c1-3aac-71ff-ab53-5e5613ccdd2f}">
          <p14:sldIdLst>
            <p14:sldId id="256"/>
            <p14:sldId id="257"/>
            <p14:sldId id="258"/>
            <p14:sldId id="259"/>
          </p14:sldIdLst>
        </p14:section>
        <p14:section name="Решение" id="{ad9383eb-c52d-a7e6-304a-d68b3c625b94}">
          <p14:sldIdLst>
            <p14:sldId id="260"/>
            <p14:sldId id="261"/>
            <p14:sldId id="262"/>
            <p14:sldId id="263"/>
          </p14:sldIdLst>
        </p14:section>
        <p14:section name="Результаты" id="{5a8da896-90e8-f949-5daf-cd634f148c29}">
          <p14:sldIdLst>
            <p14:sldId id="264"/>
            <p14:sldId id="265"/>
            <p14:sldId id="266"/>
            <p14:sldId id="267"/>
            <p14:sldId id="268"/>
          </p14:sldIdLst>
        </p14:section>
        <p14:section name="Приложение" id="{2ecc3485-d0a3-5eab-ca40-8b8cece4ec06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N*(B)</c:v>
                </c:pt>
              </c:strCache>
            </c:strRef>
          </c:tx>
          <c:spPr>
            <a:solidFill>
              <a:srgbClr val="0E7C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6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6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6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7C6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7C6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7C6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E7C6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E7C6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E7C6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E7C66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F2A90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E7C66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0E7C66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0E7C66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0E7C66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0E7C66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0E7C66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0E7C66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0E7C66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0E7C66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0E7C66"/>
              </a:solidFill>
              <a:effectLst/>
            </c:spPr>
          </c:dPt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3</c:v>
                </c:pt>
                <c:pt idx="11">
                  <c:v>4</c:v>
                </c:pt>
                <c:pt idx="12">
                  <c:v>4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B6B7A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5B6B7A"/>
                    </a:solidFill>
                    <a:latin typeface="Arial"/>
                  </a:rPr>
                  <a:t>заряд B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D5DF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B6B7A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5B6B7A"/>
                    </a:solidFill>
                    <a:latin typeface="Arial"/>
                  </a:rPr>
                  <a:t>образцов N*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02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4202B"/>
                </a:solidFill>
                <a:latin typeface="+mn-lt"/>
              </a:rPr>
              <a:t>H2: hard, заряд 25, 30 seed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 нуля</c:v>
                </c:pt>
              </c:strCache>
            </c:strRef>
          </c:tx>
          <c:spPr>
            <a:solidFill>
              <a:srgbClr val="5B6B7A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142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образцы, %</c:v>
                  </c:pt>
                  <c:pt idx="1">
                    <c:v>штрафы, шт.</c:v>
                  </c:pt>
                  <c:pt idx="2">
                    <c:v>счёт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</c:v>
                </c:pt>
                <c:pt idx="1">
                  <c:v>20</c:v>
                </c:pt>
                <c:pt idx="2">
                  <c:v>49.1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 базой знаний</c:v>
                </c:pt>
              </c:strCache>
            </c:strRef>
          </c:tx>
          <c:spPr>
            <a:solidFill>
              <a:srgbClr val="0E7C66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142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образцы, %</c:v>
                  </c:pt>
                  <c:pt idx="1">
                    <c:v>штрафы, шт.</c:v>
                  </c:pt>
                  <c:pt idx="2">
                    <c:v>счёт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78</c:v>
                </c:pt>
                <c:pt idx="1">
                  <c:v>8</c:v>
                </c:pt>
                <c:pt idx="2">
                  <c:v>53.9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150" u="none">
                  <a:solidFill>
                    <a:srgbClr val="1420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420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6350" cap="flat">
              <a:solidFill>
                <a:srgbClr val="D5DF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420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10 с · Андрей. Мы команда IKA. Наш робот сам находит скрытые образцы, сам узнаёт, где пол дорогой, ведёт журнал гипотез и возвращается на базу. Справа - реальный прогон самого сложного сценария: семь из семи, без единой подсказки, где лежат образцы.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15 с · Андрей. Агент не знает, где образцы и где дорогой пол, - у него есть только датчик близости и батарея. В сложном сценарии среда ещё и меняется без предупреждения. Цель - агент, который сам замыкает научный цикл: гипотеза, действие, данные, вывод.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30 с · Андрей. Любую задачу можно записать как функцию. Агент - функция F: на входе карта, образцы и заряд, на выходе маршрут, который максимизирует оценку J: 10 за образец, минус штрафы, плюс 0,1 за оставшийся заряд при возврате. Ниже формулы поведения: заряд убывает с путём и быстрее на дорогом грунте, цена переезда - путь A* на измеренный расход, ограничения, модель датчика, правило перепланирования. Справа - оптимум, если бы всё было известно; наш агент образцов не знает и исследует, поэтому оптимум - верхняя граница. Метрики - это слагаемые этой функции.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30 с · Андрей. Мы сформулировали три гипотезы и проверили каждую парным экспериментом на тысячах миссий. H1 - что изучение цены пола само по себе даёт больше образцов - статистически не подтвердилась: на лёгких уровнях плюс, на сложном нет, потому что про зону агент узнаёт, только когда её уже проехал. Отсюда родилась H2: переносить знания между миссиями. Она подтвердилась: счёт выше, штрафов в сложном сценарии в два с половиной раза меньше. H3 про LLM - частично: образцов столько же, а штрафов вдвое меньше.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20 с · Илья. Это настоящий прогон сложного сценария в Gazebo через наш пульт. Слева через 36 секунд: фиолетовым - где агент ещё не искал, кольцо - его текущая гипотеза о положении образца. В центре финал: семь из семи, оранжевые клетки - дорогой пол, который агент нашёл по расходу батареи. Справа - журнал: гипотезы со статусами, включая сбой датчика, который агент распознал сам.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20 с · Илья. В центре - наш агент: научный планировщик с журналом, A*, регулятор, локализация. Он получает с робота колёса, гироскоп и лидар, от судьи - батарею, датчик образцов и штрафы. Что знает агент: стены и базу знаний прошлых миссий, которую сам и пишет. В ключевые моменты он отправляет журнал и варианты языковой модели, она выбирает стратегию. Судья - отдельный узел: сценарии, батарея, очки.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15 с · Илья. От карты до колёс: карта стоимостей - стены плюс то, что агент выучил о грунтах и опасностях, A* за 10 миллисекунд, регулятор и лидар. Положение: путь из колёс, курс из гироскопа - ошибка у образца упала с 28 до 5 сантиметров. [Затем - живое демо, ~1 мин.]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30 с · Константин. Агент крутит научный цикл. Гипотеза: например, «образец около этой точки» или «этот участок вдвое дороже». Действие: подъехать и измерить. Данные: датчик работает как дальномер, батарея - как измеритель цены пола. Вывод: гипотеза подтверждена, опровергнута или среда изменилась - и карта обновляется. Если расход ушёл из прогноза, вырос шум датчика или пришёл штраф - это новая гипотеза и новый маршрут. Робота ведёт алгоритм. Языковая модель - научный руководитель: в ключевые моменты читает журнал, выбирает, где искать дальше или пора домой, и объясняет почему. Каждый её ответ проверяет код, а робот не стоит в ожидании.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25 с · Константин. В Gazebo научный агент без единой подсказки собрал семь из семи в самом сложном сценарии, без штрафов, и сам распознал сбой датчика. Офлайн 360 миссий из 360 вернулись на базу. С базой знаний в сложном сценарии штрафов 8 вместо 20 и счёт выше. Языковая модель ответила корректно 121 раз из 121.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25 с · Константин. Связь с идеей «ИИ как инфраструктура знаний». Агент не просто ездит - он производит знание: журнал гипотез с доказательствами и базу знаний, которую следующая миссия использует и перепроверяет. Мы это измерили: со знаниями прошлой миссии счёт выше, штрафов в два с половиной раза меньше. Применение: лаборатория, где робот сам ставит серию опытов и пишет протокол; учёба, где студент воспроизводит эксперимент по seed; полевые роботы, которые передают друг другу карту местности.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10 с · Константин. Официальные пакеты ROS 2 и Gazebo, свой код на Python со 132 тестами, модель DeepSeek через ai.mai.ru, всё на ноутбуке без GPU. Разработку вели с Claude Code; повторяющиеся процедуры упаковали в три своих скилла.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10 с · Константин. Все пять уровней сделаны и проверены. Дальше - SLAM, два робота с общей базой знаний и перенос на настоящий TurtleBot.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5 с. Спасибо! Ниже - слайды-приложения для ответов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спросят про методику и цифры экспериментов.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спросят «почему модель не управляет всем сама». Эксперименты с шестью моделями ai.mai.ru и пример ответа советника.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спросят «как вы использовали ИИ». Цикл разработки, что нашёл ассистент, три скилла в .claude/skills, что решали люди.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58521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TwoToTango123/innopolis-agent-turtle" TargetMode="External"/><Relationship Id="rId2" Type="http://schemas.openxmlformats.org/officeDocument/2006/relationships/image" Target="../media/image-13-1.png"/><Relationship Id="rId3" Type="http://schemas.openxmlformats.org/officeDocument/2006/relationships/image" Target="../media/image-13-2.png"/><Relationship Id="rId4" Type="http://schemas.openxmlformats.org/officeDocument/2006/relationships/image" Target="../media/image-13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Автономный ИИ‑исследователь на роботе‑платформе</a:t>
            </a:r>
            <a:endParaRPr lang="en-US" sz="4000" dirty="0"/>
          </a:p>
        </p:txBody>
      </p:sp>
      <p:sp>
        <p:nvSpPr>
          <p:cNvPr id="3" name="text_1"/>
          <p:cNvSpPr txBox="1"/>
          <p:nvPr/>
        </p:nvSpPr>
        <p:spPr>
          <a:xfrm>
            <a:off x="548640" y="4069080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TurtleBot3 в Gazebo сам ищет образцы по датчику, узнаёт «цену» пола по батарее, ведёт журнал гипотез и возвращается на базу. LLM - научный руководитель: выбирает стратегию по журналу</a:t>
            </a:r>
            <a:endParaRPr lang="en-US" sz="1550" dirty="0"/>
          </a:p>
        </p:txBody>
      </p:sp>
      <p:sp>
        <p:nvSpPr>
          <p:cNvPr id="4" name="text_2"/>
          <p:cNvSpPr txBox="1"/>
          <p:nvPr/>
        </p:nvSpPr>
        <p:spPr>
          <a:xfrm>
            <a:off x="548640" y="5440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«IKA»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Hack 2026 · финал, 9 октября</a:t>
            </a:r>
            <a:endParaRPr lang="en-US" sz="1400" dirty="0"/>
          </a:p>
        </p:txBody>
      </p:sp>
      <p:pic>
        <p:nvPicPr>
          <p:cNvPr id="5" name="result_frame" descr="C:\Users\1\AppData\Local\Temp\claude\--wsl-localhost-Ubuntu-home-konstsmir-innopolis-proj\725ee427-e78d-4e35-ab66-b60b3292cb6d\scratchpad\deck\sci_end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822960"/>
            <a:ext cx="4892040" cy="4498930"/>
          </a:xfrm>
          <a:prstGeom prst="rect">
            <a:avLst/>
          </a:prstGeom>
        </p:spPr>
      </p:pic>
      <p:sp>
        <p:nvSpPr>
          <p:cNvPr id="6" name="text_3"/>
          <p:cNvSpPr txBox="1"/>
          <p:nvPr/>
        </p:nvSpPr>
        <p:spPr>
          <a:xfrm>
            <a:off x="6766560" y="54406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Gazebo, hard: 7 из 7 без координат образцов, возврат, 0 штрафов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и цель</a:t>
            </a:r>
            <a:endParaRPr lang="en-US" sz="3000" dirty="0"/>
          </a:p>
        </p:txBody>
      </p:sp>
      <p:sp>
        <p:nvSpPr>
          <p:cNvPr id="3" name="tracker_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  ·   </a:t>
            </a:r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  ·   </a:t>
            </a:r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050" dirty="0"/>
          </a:p>
        </p:txBody>
      </p:sp>
      <p:sp>
        <p:nvSpPr>
          <p:cNvPr id="4" name="card_6"/>
          <p:cNvSpPr/>
          <p:nvPr/>
        </p:nvSpPr>
        <p:spPr>
          <a:xfrm>
            <a:off x="548640" y="1325880"/>
            <a:ext cx="548640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/>
        </p:spPr>
      </p:sp>
      <p:sp>
        <p:nvSpPr>
          <p:cNvPr id="5" name="icon_bg_7"/>
          <p:cNvSpPr/>
          <p:nvPr/>
        </p:nvSpPr>
        <p:spPr>
          <a:xfrm>
            <a:off x="868680" y="160020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con_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1753819"/>
            <a:ext cx="332842" cy="332842"/>
          </a:xfrm>
          <a:prstGeom prst="rect">
            <a:avLst/>
          </a:prstGeom>
        </p:spPr>
      </p:pic>
      <p:sp>
        <p:nvSpPr>
          <p:cNvPr id="7" name="text_9"/>
          <p:cNvSpPr txBox="1"/>
          <p:nvPr/>
        </p:nvSpPr>
        <p:spPr>
          <a:xfrm>
            <a:off x="1691640" y="1719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дано</a:t>
            </a:r>
            <a:endParaRPr lang="en-US" sz="2000" dirty="0"/>
          </a:p>
        </p:txBody>
      </p:sp>
      <p:sp>
        <p:nvSpPr>
          <p:cNvPr id="8" name="text_10"/>
          <p:cNvSpPr txBox="1"/>
          <p:nvPr/>
        </p:nvSpPr>
        <p:spPr>
          <a:xfrm>
            <a:off x="868680" y="246888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 TurtleBot3 Burger в Gazebo, арена с 9 столбами, карта стен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образцы - неизвестно: есть только датчик близости 0…1 с шумом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пола «дорогая» - батарея тратится быстрее; где - неизвестно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hard среда меняется без предупреждения: грунт, опасная зона, сбой датчика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Заряд 60: собрать максимум и вернуться</a:t>
            </a:r>
            <a:endParaRPr lang="en-US" sz="1500" dirty="0"/>
          </a:p>
        </p:txBody>
      </p:sp>
      <p:sp>
        <p:nvSpPr>
          <p:cNvPr id="9" name="text_11"/>
          <p:cNvSpPr txBox="1"/>
          <p:nvPr/>
        </p:nvSpPr>
        <p:spPr>
          <a:xfrm>
            <a:off x="6400800" y="1371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- агент, который сам ставит эксперимент</a:t>
            </a:r>
            <a:endParaRPr lang="en-US" sz="1900" dirty="0"/>
          </a:p>
        </p:txBody>
      </p:sp>
      <p:sp>
        <p:nvSpPr>
          <p:cNvPr id="10" name="icon_bg_12"/>
          <p:cNvSpPr/>
          <p:nvPr/>
        </p:nvSpPr>
        <p:spPr>
          <a:xfrm>
            <a:off x="6400800" y="2103120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_1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030" y="2252350"/>
            <a:ext cx="323332" cy="323332"/>
          </a:xfrm>
          <a:prstGeom prst="rect">
            <a:avLst/>
          </a:prstGeom>
        </p:spPr>
      </p:pic>
      <p:sp>
        <p:nvSpPr>
          <p:cNvPr id="12" name="text_14"/>
          <p:cNvSpPr txBox="1"/>
          <p:nvPr/>
        </p:nvSpPr>
        <p:spPr>
          <a:xfrm>
            <a:off x="7223760" y="22128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Гипотеза: «образец около (x; y)», «зона дороже ×2»</a:t>
            </a:r>
            <a:endParaRPr lang="en-US" sz="1600" dirty="0"/>
          </a:p>
        </p:txBody>
      </p:sp>
      <p:sp>
        <p:nvSpPr>
          <p:cNvPr id="13" name="icon_bg_15"/>
          <p:cNvSpPr/>
          <p:nvPr/>
        </p:nvSpPr>
        <p:spPr>
          <a:xfrm>
            <a:off x="6400800" y="3063240"/>
            <a:ext cx="621792" cy="62179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con_1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030" y="3212470"/>
            <a:ext cx="323332" cy="323332"/>
          </a:xfrm>
          <a:prstGeom prst="rect">
            <a:avLst/>
          </a:prstGeom>
        </p:spPr>
      </p:pic>
      <p:sp>
        <p:nvSpPr>
          <p:cNvPr id="15" name="text_17"/>
          <p:cNvSpPr txBox="1"/>
          <p:nvPr/>
        </p:nvSpPr>
        <p:spPr>
          <a:xfrm>
            <a:off x="7223760" y="31729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Действие: поехать и измерить</a:t>
            </a:r>
            <a:endParaRPr lang="en-US" sz="1600" dirty="0"/>
          </a:p>
        </p:txBody>
      </p:sp>
      <p:sp>
        <p:nvSpPr>
          <p:cNvPr id="16" name="icon_bg_18"/>
          <p:cNvSpPr/>
          <p:nvPr/>
        </p:nvSpPr>
        <p:spPr>
          <a:xfrm>
            <a:off x="6400800" y="4023360"/>
            <a:ext cx="621792" cy="62179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con_1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030" y="4172590"/>
            <a:ext cx="323332" cy="323332"/>
          </a:xfrm>
          <a:prstGeom prst="rect">
            <a:avLst/>
          </a:prstGeom>
        </p:spPr>
      </p:pic>
      <p:sp>
        <p:nvSpPr>
          <p:cNvPr id="18" name="text_20"/>
          <p:cNvSpPr txBox="1"/>
          <p:nvPr/>
        </p:nvSpPr>
        <p:spPr>
          <a:xfrm>
            <a:off x="7223760" y="41330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датчик, расход батареи, штрафы</a:t>
            </a:r>
            <a:endParaRPr lang="en-US" sz="1600" dirty="0"/>
          </a:p>
        </p:txBody>
      </p:sp>
      <p:sp>
        <p:nvSpPr>
          <p:cNvPr id="19" name="icon_bg_21"/>
          <p:cNvSpPr/>
          <p:nvPr/>
        </p:nvSpPr>
        <p:spPr>
          <a:xfrm>
            <a:off x="6400800" y="4983480"/>
            <a:ext cx="621792" cy="62179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con_2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030" y="5132710"/>
            <a:ext cx="323332" cy="323332"/>
          </a:xfrm>
          <a:prstGeom prst="rect">
            <a:avLst/>
          </a:prstGeom>
        </p:spPr>
      </p:pic>
      <p:sp>
        <p:nvSpPr>
          <p:cNvPr id="21" name="text_23"/>
          <p:cNvSpPr txBox="1"/>
          <p:nvPr/>
        </p:nvSpPr>
        <p:spPr>
          <a:xfrm>
            <a:off x="7223760" y="50932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→ новая гипотеза, новый маршрут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как функция</a:t>
            </a:r>
            <a:endParaRPr lang="en-US" sz="3000" dirty="0"/>
          </a:p>
        </p:txBody>
      </p:sp>
      <p:sp>
        <p:nvSpPr>
          <p:cNvPr id="3" name="tracker_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  ·   </a:t>
            </a:r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  ·   </a:t>
            </a:r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050" dirty="0"/>
          </a:p>
        </p:txBody>
      </p:sp>
      <p:sp>
        <p:nvSpPr>
          <p:cNvPr id="4" name="function_26"/>
          <p:cNvSpPr/>
          <p:nvPr/>
        </p:nvSpPr>
        <p:spPr>
          <a:xfrm>
            <a:off x="548640" y="1280160"/>
            <a:ext cx="6537960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5" name="text_27"/>
          <p:cNvSpPr txBox="1"/>
          <p:nvPr/>
        </p:nvSpPr>
        <p:spPr>
          <a:xfrm>
            <a:off x="822960" y="1371600"/>
            <a:ext cx="6080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- это функция: карта M, образцы S, заряд B  →  маршрут π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π* = F(M, S, B) = arg max</a:t>
            </a:r>
            <a:pPr indent="0" marL="0">
              <a:spcAft>
                <a:spcPts val="200"/>
              </a:spcAft>
              <a:buNone/>
            </a:pPr>
            <a:r>
              <a:rPr lang="en-US" sz="1500" b="1" baseline="-4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pPr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J(π)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J(π) = 10·N(π) − P(π) + 0,1·E(π)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если финиш на базе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- собрано образцов,  P - штрафы,  E - остаток заряда (оценка судьи)</a:t>
            </a:r>
            <a:endParaRPr lang="en-US" sz="1350" dirty="0"/>
          </a:p>
        </p:txBody>
      </p:sp>
      <p:sp>
        <p:nvSpPr>
          <p:cNvPr id="6" name="law_28"/>
          <p:cNvSpPr/>
          <p:nvPr/>
        </p:nvSpPr>
        <p:spPr>
          <a:xfrm>
            <a:off x="548640" y="2862072"/>
            <a:ext cx="653796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7" name="text_29"/>
          <p:cNvSpPr txBox="1"/>
          <p:nvPr/>
        </p:nvSpPr>
        <p:spPr>
          <a:xfrm>
            <a:off x="731520" y="292608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Заряд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тратится с путём</a:t>
            </a:r>
            <a:endParaRPr lang="en-US" sz="1300" dirty="0"/>
          </a:p>
        </p:txBody>
      </p:sp>
      <p:sp>
        <p:nvSpPr>
          <p:cNvPr id="8" name="text_30"/>
          <p:cNvSpPr txBox="1"/>
          <p:nvPr/>
        </p:nvSpPr>
        <p:spPr>
          <a:xfrm>
            <a:off x="2697480" y="2862072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E(t) = B − ∫</a:t>
            </a:r>
            <a:pPr indent="0" marL="0">
              <a:buNone/>
            </a:pPr>
            <a:r>
              <a:rPr lang="en-US" sz="1400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indent="0" marL="0">
              <a:buNone/>
            </a:pPr>
            <a:r>
              <a:rPr lang="en-US" sz="1400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(k·μ·|v| + 0,05·|ω| + 0,005) dt</a:t>
            </a:r>
            <a:endParaRPr lang="en-US" sz="1400" dirty="0"/>
          </a:p>
        </p:txBody>
      </p:sp>
      <p:sp>
        <p:nvSpPr>
          <p:cNvPr id="9" name="law_31"/>
          <p:cNvSpPr/>
          <p:nvPr/>
        </p:nvSpPr>
        <p:spPr>
          <a:xfrm>
            <a:off x="548640" y="3520440"/>
            <a:ext cx="653796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0" name="text_32"/>
          <p:cNvSpPr txBox="1"/>
          <p:nvPr/>
        </p:nvSpPr>
        <p:spPr>
          <a:xfrm>
            <a:off x="731520" y="358444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переезда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A* по карте</a:t>
            </a:r>
            <a:endParaRPr lang="en-US" sz="1300" dirty="0"/>
          </a:p>
        </p:txBody>
      </p:sp>
      <p:sp>
        <p:nvSpPr>
          <p:cNvPr id="11" name="text_33"/>
          <p:cNvSpPr txBox="1"/>
          <p:nvPr/>
        </p:nvSpPr>
        <p:spPr>
          <a:xfrm>
            <a:off x="2697480" y="3520440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c(i, j) = k̂ · Σ μ(клетка)·Δl ,     k̂ = ΔE / Δl</a:t>
            </a:r>
            <a:endParaRPr lang="en-US" sz="1400" dirty="0"/>
          </a:p>
        </p:txBody>
      </p:sp>
      <p:sp>
        <p:nvSpPr>
          <p:cNvPr id="12" name="law_34"/>
          <p:cNvSpPr/>
          <p:nvPr/>
        </p:nvSpPr>
        <p:spPr>
          <a:xfrm>
            <a:off x="548640" y="4178808"/>
            <a:ext cx="653796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3" name="text_35"/>
          <p:cNvSpPr txBox="1"/>
          <p:nvPr/>
        </p:nvSpPr>
        <p:spPr>
          <a:xfrm>
            <a:off x="731520" y="4242816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и сбор</a:t>
            </a:r>
            <a:endParaRPr lang="en-US" sz="1300" dirty="0"/>
          </a:p>
        </p:txBody>
      </p:sp>
      <p:sp>
        <p:nvSpPr>
          <p:cNvPr id="14" name="text_36"/>
          <p:cNvSpPr txBox="1"/>
          <p:nvPr/>
        </p:nvSpPr>
        <p:spPr>
          <a:xfrm>
            <a:off x="2697480" y="4178808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c(π) ≤ B − R,  |v| ≤ 0,22 м/с,  d</a:t>
            </a:r>
            <a:pPr indent="0" marL="0">
              <a:buNone/>
            </a:pPr>
            <a:r>
              <a:rPr lang="en-US" sz="1400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сбора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&lt; 0,30 м</a:t>
            </a:r>
            <a:endParaRPr lang="en-US" sz="1400" dirty="0"/>
          </a:p>
        </p:txBody>
      </p:sp>
      <p:sp>
        <p:nvSpPr>
          <p:cNvPr id="15" name="law_37"/>
          <p:cNvSpPr/>
          <p:nvPr/>
        </p:nvSpPr>
        <p:spPr>
          <a:xfrm>
            <a:off x="548640" y="4837176"/>
            <a:ext cx="653796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6" name="text_38"/>
          <p:cNvSpPr txBox="1"/>
          <p:nvPr/>
        </p:nvSpPr>
        <p:spPr>
          <a:xfrm>
            <a:off x="731520" y="4901184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Датчик образца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растёт при подходе</a:t>
            </a:r>
            <a:endParaRPr lang="en-US" sz="1300" dirty="0"/>
          </a:p>
        </p:txBody>
      </p:sp>
      <p:sp>
        <p:nvSpPr>
          <p:cNvPr id="17" name="text_39"/>
          <p:cNvSpPr txBox="1"/>
          <p:nvPr/>
        </p:nvSpPr>
        <p:spPr>
          <a:xfrm>
            <a:off x="2697480" y="4837176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s(d) = exp(−d / 0,7) + ε ,     ε ~ N(0; 0,03²)</a:t>
            </a:r>
            <a:endParaRPr lang="en-US" sz="1400" dirty="0"/>
          </a:p>
        </p:txBody>
      </p:sp>
      <p:sp>
        <p:nvSpPr>
          <p:cNvPr id="18" name="law_40"/>
          <p:cNvSpPr/>
          <p:nvPr/>
        </p:nvSpPr>
        <p:spPr>
          <a:xfrm>
            <a:off x="548640" y="5495544"/>
            <a:ext cx="653796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9" name="text_41"/>
          <p:cNvSpPr txBox="1"/>
          <p:nvPr/>
        </p:nvSpPr>
        <p:spPr>
          <a:xfrm>
            <a:off x="731520" y="555955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Перепланирование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реакция на сюрприз</a:t>
            </a:r>
            <a:endParaRPr lang="en-US" sz="1300" dirty="0"/>
          </a:p>
        </p:txBody>
      </p:sp>
      <p:sp>
        <p:nvSpPr>
          <p:cNvPr id="20" name="text_42"/>
          <p:cNvSpPr txBox="1"/>
          <p:nvPr/>
        </p:nvSpPr>
        <p:spPr>
          <a:xfrm>
            <a:off x="2697480" y="5495544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indent="0" marL="0">
              <a:buNone/>
            </a:pPr>
            <a:r>
              <a:rPr lang="en-US" sz="1400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факт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&gt; 1,4·c</a:t>
            </a:r>
            <a:pPr indent="0" marL="0">
              <a:buNone/>
            </a:pPr>
            <a:r>
              <a:rPr lang="en-US" sz="1400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прогноз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⇒  π* = F(M, S′, E(t))</a:t>
            </a:r>
            <a:endParaRPr lang="en-US" sz="1400" dirty="0"/>
          </a:p>
        </p:txBody>
      </p:sp>
      <p:sp>
        <p:nvSpPr>
          <p:cNvPr id="21" name="text_43"/>
          <p:cNvSpPr txBox="1"/>
          <p:nvPr/>
        </p:nvSpPr>
        <p:spPr>
          <a:xfrm>
            <a:off x="7406640" y="1280160"/>
            <a:ext cx="4236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ведёт себя функция</a:t>
            </a:r>
            <a:endParaRPr lang="en-US" sz="1700" dirty="0"/>
          </a:p>
        </p:txBody>
      </p:sp>
      <p:graphicFrame>
        <p:nvGraphicFramePr>
          <p:cNvPr id="22" name="nstar_chart" descr=""/>
          <p:cNvGraphicFramePr/>
          <p:nvPr/>
        </p:nvGraphicFramePr>
        <p:xfrm>
          <a:off x="7406640" y="1645920"/>
          <a:ext cx="4236415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_44"/>
          <p:cNvSpPr txBox="1"/>
          <p:nvPr/>
        </p:nvSpPr>
        <p:spPr>
          <a:xfrm>
            <a:off x="7406640" y="3639312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оптимум N*(B), если бы всё было известно (A* + ДП, R = 3)</a:t>
            </a:r>
            <a:endParaRPr lang="en-US" sz="1100" dirty="0"/>
          </a:p>
        </p:txBody>
      </p:sp>
      <p:sp>
        <p:nvSpPr>
          <p:cNvPr id="24" name="text_45"/>
          <p:cNvSpPr txBox="1"/>
          <p:nvPr/>
        </p:nvSpPr>
        <p:spPr>
          <a:xfrm>
            <a:off x="7406640" y="4005072"/>
            <a:ext cx="42364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Ступенчатая и не убывает; с B ≥ 13 - все 5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NP-трудная (Orienteering Problem); точно - ДП O(2ⁿ·n²)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S не знает - он исследует, поэтому оптимум - верхняя граница</a:t>
            </a:r>
            <a:endParaRPr lang="en-US" sz="1200" dirty="0"/>
          </a:p>
        </p:txBody>
      </p:sp>
      <p:sp>
        <p:nvSpPr>
          <p:cNvPr id="25" name="metrics_46"/>
          <p:cNvSpPr/>
          <p:nvPr/>
        </p:nvSpPr>
        <p:spPr>
          <a:xfrm>
            <a:off x="7406640" y="5532120"/>
            <a:ext cx="4236415" cy="658368"/>
          </a:xfrm>
          <a:prstGeom prst="roundRect">
            <a:avLst>
              <a:gd name="adj" fmla="val 11111"/>
            </a:avLst>
          </a:prstGeom>
          <a:solidFill>
            <a:schemeClr val="accent6"/>
          </a:solidFill>
          <a:ln/>
        </p:spPr>
      </p:sp>
      <p:sp>
        <p:nvSpPr>
          <p:cNvPr id="26" name="text_47"/>
          <p:cNvSpPr txBox="1"/>
          <p:nvPr/>
        </p:nvSpPr>
        <p:spPr>
          <a:xfrm>
            <a:off x="7543800" y="5568696"/>
            <a:ext cx="39620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= слагаемые функции: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образцов N/n · возврат · остаток заряда E · штрафы P · длина пути · ошибка позиции · время LLM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Научный цикл: гипотезы и проверка</a:t>
            </a:r>
            <a:endParaRPr lang="en-US" sz="3000" dirty="0"/>
          </a:p>
        </p:txBody>
      </p:sp>
      <p:sp>
        <p:nvSpPr>
          <p:cNvPr id="3" name="tracker_4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  ·   </a:t>
            </a:r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  ·   </a:t>
            </a:r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050" dirty="0"/>
          </a:p>
        </p:txBody>
      </p:sp>
      <p:sp>
        <p:nvSpPr>
          <p:cNvPr id="4" name="text_50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гипотеза проверялась парным экспериментом: тот же сценарий для двух агентов, 30 seed × 3 уровня, знаковый критерий</a:t>
            </a:r>
            <a:endParaRPr lang="en-US" sz="1350" dirty="0"/>
          </a:p>
        </p:txBody>
      </p:sp>
      <p:sp>
        <p:nvSpPr>
          <p:cNvPr id="5" name="card_51"/>
          <p:cNvSpPr/>
          <p:nvPr/>
        </p:nvSpPr>
        <p:spPr>
          <a:xfrm>
            <a:off x="548640" y="1691640"/>
            <a:ext cx="3545738" cy="4434840"/>
          </a:xfrm>
          <a:prstGeom prst="roundRect">
            <a:avLst>
              <a:gd name="adj" fmla="val 2063"/>
            </a:avLst>
          </a:prstGeom>
          <a:solidFill>
            <a:schemeClr val="bg2"/>
          </a:solidFill>
          <a:ln/>
        </p:spPr>
      </p:sp>
      <p:sp>
        <p:nvSpPr>
          <p:cNvPr id="6" name="text_52"/>
          <p:cNvSpPr txBox="1"/>
          <p:nvPr/>
        </p:nvSpPr>
        <p:spPr>
          <a:xfrm>
            <a:off x="77724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2400" dirty="0"/>
          </a:p>
        </p:txBody>
      </p:sp>
      <p:sp>
        <p:nvSpPr>
          <p:cNvPr id="7" name="status_53"/>
          <p:cNvSpPr/>
          <p:nvPr/>
        </p:nvSpPr>
        <p:spPr>
          <a:xfrm>
            <a:off x="1854098" y="1874520"/>
            <a:ext cx="201168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8" name="text_54"/>
          <p:cNvSpPr txBox="1"/>
          <p:nvPr/>
        </p:nvSpPr>
        <p:spPr>
          <a:xfrm>
            <a:off x="1854098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подтверждена</a:t>
            </a:r>
            <a:endParaRPr lang="en-US" sz="1200" dirty="0"/>
          </a:p>
        </p:txBody>
      </p:sp>
      <p:sp>
        <p:nvSpPr>
          <p:cNvPr id="9" name="text_55"/>
          <p:cNvSpPr txBox="1"/>
          <p:nvPr/>
        </p:nvSpPr>
        <p:spPr>
          <a:xfrm>
            <a:off x="777240" y="2377440"/>
            <a:ext cx="30885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агент учит цену пола по расходу батареи, то на том же заряде он соберёт больше, чем по кратчайшему пути</a:t>
            </a:r>
            <a:endParaRPr lang="en-US" sz="1400" dirty="0"/>
          </a:p>
        </p:txBody>
      </p:sp>
      <p:sp>
        <p:nvSpPr>
          <p:cNvPr id="10" name="text_56"/>
          <p:cNvSpPr txBox="1"/>
          <p:nvPr/>
        </p:nvSpPr>
        <p:spPr>
          <a:xfrm>
            <a:off x="777240" y="3931920"/>
            <a:ext cx="31342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заряд 25: +2 п. п. easy, +4 п. п. medium, hard - 0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образцов больше в 13 парах из 23 · p = 0,34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знание приходит поздно - зону уже проехали</a:t>
            </a:r>
            <a:endParaRPr lang="en-US" sz="1250" dirty="0"/>
          </a:p>
        </p:txBody>
      </p:sp>
      <p:sp>
        <p:nvSpPr>
          <p:cNvPr id="11" name="card_57"/>
          <p:cNvSpPr/>
          <p:nvPr/>
        </p:nvSpPr>
        <p:spPr>
          <a:xfrm>
            <a:off x="4322978" y="1691640"/>
            <a:ext cx="3545738" cy="4434840"/>
          </a:xfrm>
          <a:prstGeom prst="roundRect">
            <a:avLst>
              <a:gd name="adj" fmla="val 2063"/>
            </a:avLst>
          </a:prstGeom>
          <a:solidFill>
            <a:schemeClr val="bg2"/>
          </a:solidFill>
          <a:ln/>
        </p:spPr>
      </p:sp>
      <p:sp>
        <p:nvSpPr>
          <p:cNvPr id="12" name="text_58"/>
          <p:cNvSpPr txBox="1"/>
          <p:nvPr/>
        </p:nvSpPr>
        <p:spPr>
          <a:xfrm>
            <a:off x="455157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2400" dirty="0"/>
          </a:p>
        </p:txBody>
      </p:sp>
      <p:sp>
        <p:nvSpPr>
          <p:cNvPr id="13" name="status_59"/>
          <p:cNvSpPr/>
          <p:nvPr/>
        </p:nvSpPr>
        <p:spPr>
          <a:xfrm>
            <a:off x="5628437" y="1874520"/>
            <a:ext cx="20116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_60"/>
          <p:cNvSpPr txBox="1"/>
          <p:nvPr/>
        </p:nvSpPr>
        <p:spPr>
          <a:xfrm>
            <a:off x="5628437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подтверждена</a:t>
            </a:r>
            <a:endParaRPr lang="en-US" sz="1200" dirty="0"/>
          </a:p>
        </p:txBody>
      </p:sp>
      <p:sp>
        <p:nvSpPr>
          <p:cNvPr id="15" name="text_61"/>
          <p:cNvSpPr txBox="1"/>
          <p:nvPr/>
        </p:nvSpPr>
        <p:spPr>
          <a:xfrm>
            <a:off x="4551578" y="2377440"/>
            <a:ext cx="30885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агент начинает миссию со знаниями прошлой миссии (карта грунтов, опасности), то счёт выше и штрафов меньше</a:t>
            </a:r>
            <a:endParaRPr lang="en-US" sz="1400" dirty="0"/>
          </a:p>
        </p:txBody>
      </p:sp>
      <p:sp>
        <p:nvSpPr>
          <p:cNvPr id="16" name="text_62"/>
          <p:cNvSpPr txBox="1"/>
          <p:nvPr/>
        </p:nvSpPr>
        <p:spPr>
          <a:xfrm>
            <a:off x="4551578" y="3931920"/>
            <a:ext cx="31342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 выше в 57 парах из 87 · p = 0,003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штрафы в hard: 8 вместо 20 · p = 0,004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образцы: 78 % против 74 % в hard (тенденция)</a:t>
            </a:r>
            <a:endParaRPr lang="en-US" sz="1250" dirty="0"/>
          </a:p>
        </p:txBody>
      </p:sp>
      <p:sp>
        <p:nvSpPr>
          <p:cNvPr id="17" name="card_63"/>
          <p:cNvSpPr/>
          <p:nvPr/>
        </p:nvSpPr>
        <p:spPr>
          <a:xfrm>
            <a:off x="8097317" y="1691640"/>
            <a:ext cx="3545738" cy="4434840"/>
          </a:xfrm>
          <a:prstGeom prst="roundRect">
            <a:avLst>
              <a:gd name="adj" fmla="val 2063"/>
            </a:avLst>
          </a:prstGeom>
          <a:solidFill>
            <a:schemeClr val="bg2"/>
          </a:solidFill>
          <a:ln/>
        </p:spPr>
      </p:sp>
      <p:sp>
        <p:nvSpPr>
          <p:cNvPr id="18" name="text_64"/>
          <p:cNvSpPr txBox="1"/>
          <p:nvPr/>
        </p:nvSpPr>
        <p:spPr>
          <a:xfrm>
            <a:off x="8325917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endParaRPr lang="en-US" sz="2400" dirty="0"/>
          </a:p>
        </p:txBody>
      </p:sp>
      <p:sp>
        <p:nvSpPr>
          <p:cNvPr id="19" name="status_65"/>
          <p:cNvSpPr/>
          <p:nvPr/>
        </p:nvSpPr>
        <p:spPr>
          <a:xfrm>
            <a:off x="9402775" y="1874520"/>
            <a:ext cx="20116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0" name="text_66"/>
          <p:cNvSpPr txBox="1"/>
          <p:nvPr/>
        </p:nvSpPr>
        <p:spPr>
          <a:xfrm>
            <a:off x="9402775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1200" dirty="0"/>
          </a:p>
        </p:txBody>
      </p:sp>
      <p:sp>
        <p:nvSpPr>
          <p:cNvPr id="21" name="text_67"/>
          <p:cNvSpPr txBox="1"/>
          <p:nvPr/>
        </p:nvSpPr>
        <p:spPr>
          <a:xfrm>
            <a:off x="8325917" y="2377440"/>
            <a:ext cx="30885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стратегию выбирает LLM по журналу гипотез, то агент соберёт больше, чем алгоритм сам</a:t>
            </a:r>
            <a:endParaRPr lang="en-US" sz="1400" dirty="0"/>
          </a:p>
        </p:txBody>
      </p:sp>
      <p:sp>
        <p:nvSpPr>
          <p:cNvPr id="22" name="text_68"/>
          <p:cNvSpPr txBox="1"/>
          <p:nvPr/>
        </p:nvSpPr>
        <p:spPr>
          <a:xfrm>
            <a:off x="8325917" y="3931920"/>
            <a:ext cx="31342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образцов столько же: 77 % = 77 % (hard, 8 seed)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штрафов вдвое меньше: 4 против 8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вызов, 0 отклонённых ответов, ~9 с на ответ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Реальный прогон: hard в Gazebo, без координат образцов</a:t>
            </a:r>
            <a:endParaRPr lang="en-US" sz="3000" dirty="0"/>
          </a:p>
        </p:txBody>
      </p:sp>
      <p:sp>
        <p:nvSpPr>
          <p:cNvPr id="3" name="tracker_6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  ·   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  ·   </a:t>
            </a:r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050" dirty="0"/>
          </a:p>
        </p:txBody>
      </p:sp>
      <p:sp>
        <p:nvSpPr>
          <p:cNvPr id="4" name="text_71"/>
          <p:cNvSpPr txBox="1"/>
          <p:nvPr/>
        </p:nvSpPr>
        <p:spPr>
          <a:xfrm>
            <a:off x="548640" y="1188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с: разведка</a:t>
            </a:r>
            <a:endParaRPr lang="en-US" sz="1600" dirty="0"/>
          </a:p>
        </p:txBody>
      </p:sp>
      <p:pic>
        <p:nvPicPr>
          <p:cNvPr id="5" name="frame_mid" descr="C:\Users\1\AppData\Local\Temp\claude\--wsl-localhost-Ubuntu-home-konstsmir-innopolis-proj\725ee427-e78d-4e35-ab66-b60b3292cb6d\scratchpad\deck\sci_mid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886200" cy="3573916"/>
          </a:xfrm>
          <a:prstGeom prst="rect">
            <a:avLst/>
          </a:prstGeom>
        </p:spPr>
      </p:pic>
      <p:sp>
        <p:nvSpPr>
          <p:cNvPr id="6" name="text_72"/>
          <p:cNvSpPr txBox="1"/>
          <p:nvPr/>
        </p:nvSpPr>
        <p:spPr>
          <a:xfrm>
            <a:off x="548640" y="5265556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фиолетовое - где агент ещё не искал (датчик «вычёркивает» круги); кольцо - гипотеза «образец здесь»</a:t>
            </a:r>
            <a:endParaRPr lang="en-US" sz="1200" dirty="0"/>
          </a:p>
        </p:txBody>
      </p:sp>
      <p:sp>
        <p:nvSpPr>
          <p:cNvPr id="7" name="text_73"/>
          <p:cNvSpPr txBox="1"/>
          <p:nvPr/>
        </p:nvSpPr>
        <p:spPr>
          <a:xfrm>
            <a:off x="4709160" y="1188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 с: 7 из 7, возврат</a:t>
            </a:r>
            <a:endParaRPr lang="en-US" sz="1600" dirty="0"/>
          </a:p>
        </p:txBody>
      </p:sp>
      <p:pic>
        <p:nvPicPr>
          <p:cNvPr id="8" name="frame_end" descr="C:\Users\1\AppData\Local\Temp\claude\--wsl-localhost-Ubuntu-home-konstsmir-innopolis-proj\725ee427-e78d-4e35-ab66-b60b3292cb6d\scratchpad\deck\sci_end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600200"/>
            <a:ext cx="3886200" cy="3573916"/>
          </a:xfrm>
          <a:prstGeom prst="rect">
            <a:avLst/>
          </a:prstGeom>
        </p:spPr>
      </p:pic>
      <p:sp>
        <p:nvSpPr>
          <p:cNvPr id="9" name="text_74"/>
          <p:cNvSpPr txBox="1"/>
          <p:nvPr/>
        </p:nvSpPr>
        <p:spPr>
          <a:xfrm>
            <a:off x="4709160" y="5265556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оранжевые клетки T2, T3 - дорогой пол, найденный по батарее; круги и жёлтые точки - вид судьи, агенту не виден</a:t>
            </a:r>
            <a:endParaRPr lang="en-US" sz="1200" dirty="0"/>
          </a:p>
        </p:txBody>
      </p:sp>
      <p:sp>
        <p:nvSpPr>
          <p:cNvPr id="10" name="text_75"/>
          <p:cNvSpPr txBox="1"/>
          <p:nvPr/>
        </p:nvSpPr>
        <p:spPr>
          <a:xfrm>
            <a:off x="8869680" y="1188720"/>
            <a:ext cx="2773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 эксперимента</a:t>
            </a:r>
            <a:endParaRPr lang="en-US" sz="1600" dirty="0"/>
          </a:p>
        </p:txBody>
      </p:sp>
      <p:pic>
        <p:nvPicPr>
          <p:cNvPr id="11" name="journal" descr="C:\Users\1\AppData\Local\Temp\claude\--wsl-localhost-Ubuntu-home-konstsmir-innopolis-proj\725ee427-e78d-4e35-ab66-b60b3292cb6d\scratchpad\deck\sci_end_jour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600200"/>
            <a:ext cx="2773375" cy="4007768"/>
          </a:xfrm>
          <a:prstGeom prst="rect">
            <a:avLst/>
          </a:prstGeom>
        </p:spPr>
      </p:pic>
      <p:sp>
        <p:nvSpPr>
          <p:cNvPr id="12" name="demo_pill_76"/>
          <p:cNvSpPr/>
          <p:nvPr/>
        </p:nvSpPr>
        <p:spPr>
          <a:xfrm>
            <a:off x="8716975" y="5715000"/>
            <a:ext cx="292608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13" name="text_77"/>
          <p:cNvSpPr txBox="1"/>
          <p:nvPr/>
        </p:nvSpPr>
        <p:spPr>
          <a:xfrm>
            <a:off x="8716975" y="5715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Дальше - живое демо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системы</a:t>
            </a:r>
            <a:endParaRPr lang="en-US" sz="3000" dirty="0"/>
          </a:p>
        </p:txBody>
      </p:sp>
      <p:sp>
        <p:nvSpPr>
          <p:cNvPr id="3" name="tracker_7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  ·   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  ·   </a:t>
            </a:r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050" dirty="0"/>
          </a:p>
        </p:txBody>
      </p:sp>
      <p:sp>
        <p:nvSpPr>
          <p:cNvPr id="4" name="arch_box_80"/>
          <p:cNvSpPr/>
          <p:nvPr/>
        </p:nvSpPr>
        <p:spPr>
          <a:xfrm>
            <a:off x="731520" y="1143000"/>
            <a:ext cx="27432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02B"/>
            </a:solidFill>
            <a:prstDash val="solid"/>
          </a:ln>
        </p:spPr>
      </p:sp>
      <p:sp>
        <p:nvSpPr>
          <p:cNvPr id="5" name="text_81"/>
          <p:cNvSpPr txBox="1"/>
          <p:nvPr/>
        </p:nvSpPr>
        <p:spPr>
          <a:xfrm>
            <a:off x="868680" y="1234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[человек]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миссия, цели, перехват</a:t>
            </a:r>
            <a:endParaRPr lang="en-US" sz="1600" dirty="0"/>
          </a:p>
        </p:txBody>
      </p:sp>
      <p:sp>
        <p:nvSpPr>
          <p:cNvPr id="6" name="arch_box_82"/>
          <p:cNvSpPr/>
          <p:nvPr/>
        </p:nvSpPr>
        <p:spPr>
          <a:xfrm>
            <a:off x="4709160" y="1143000"/>
            <a:ext cx="30175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02B"/>
            </a:solidFill>
            <a:prstDash val="solid"/>
          </a:ln>
        </p:spPr>
      </p:sp>
      <p:sp>
        <p:nvSpPr>
          <p:cNvPr id="7" name="text_83"/>
          <p:cNvSpPr txBox="1"/>
          <p:nvPr/>
        </p:nvSpPr>
        <p:spPr>
          <a:xfrm>
            <a:off x="4846320" y="1234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V4.1 Flash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[внешний сервис · ai.mai.ru]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LLM-советник: стратегия</a:t>
            </a:r>
            <a:endParaRPr lang="en-US" sz="1600" dirty="0"/>
          </a:p>
        </p:txBody>
      </p:sp>
      <p:sp>
        <p:nvSpPr>
          <p:cNvPr id="8" name="system_boundary"/>
          <p:cNvSpPr/>
          <p:nvPr/>
        </p:nvSpPr>
        <p:spPr>
          <a:xfrm>
            <a:off x="548640" y="2331720"/>
            <a:ext cx="11094415" cy="3886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5B6B7A"/>
            </a:solidFill>
            <a:prstDash val="dash"/>
          </a:ln>
        </p:spPr>
      </p:sp>
      <p:sp>
        <p:nvSpPr>
          <p:cNvPr id="9" name="text_84"/>
          <p:cNvSpPr txBox="1"/>
          <p:nvPr/>
        </p:nvSpPr>
        <p:spPr>
          <a:xfrm>
            <a:off x="8716975" y="23957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наша система · ноутбук, WSL2</a:t>
            </a:r>
            <a:endParaRPr lang="en-US" sz="1050" dirty="0"/>
          </a:p>
        </p:txBody>
      </p:sp>
      <p:sp>
        <p:nvSpPr>
          <p:cNvPr id="10" name="arch_box_85"/>
          <p:cNvSpPr/>
          <p:nvPr/>
        </p:nvSpPr>
        <p:spPr>
          <a:xfrm>
            <a:off x="731520" y="2697480"/>
            <a:ext cx="2743200" cy="1371600"/>
          </a:xfrm>
          <a:prstGeom prst="rect">
            <a:avLst/>
          </a:prstGeom>
          <a:solidFill>
            <a:srgbClr val="EEF3F1"/>
          </a:solidFill>
          <a:ln w="19050">
            <a:solidFill>
              <a:srgbClr val="0E7C66"/>
            </a:solidFill>
            <a:prstDash val="solid"/>
          </a:ln>
        </p:spPr>
      </p:sp>
      <p:sp>
        <p:nvSpPr>
          <p:cNvPr id="11" name="text_86"/>
          <p:cNvSpPr txBox="1"/>
          <p:nvPr/>
        </p:nvSpPr>
        <p:spPr>
          <a:xfrm>
            <a:off x="868680" y="27889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Пульт / RViz2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[интерфейс оператора]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карта, знания агента, журнал, решения LLM</a:t>
            </a:r>
            <a:endParaRPr lang="en-US" sz="1600" dirty="0"/>
          </a:p>
        </p:txBody>
      </p:sp>
      <p:sp>
        <p:nvSpPr>
          <p:cNvPr id="12" name="arch_box_87"/>
          <p:cNvSpPr/>
          <p:nvPr/>
        </p:nvSpPr>
        <p:spPr>
          <a:xfrm>
            <a:off x="4709160" y="2697480"/>
            <a:ext cx="3017520" cy="1371600"/>
          </a:xfrm>
          <a:prstGeom prst="rect">
            <a:avLst/>
          </a:prstGeom>
          <a:solidFill>
            <a:srgbClr val="EEF3F1"/>
          </a:solidFill>
          <a:ln w="19050">
            <a:solidFill>
              <a:srgbClr val="0E7C66"/>
            </a:solidFill>
            <a:prstDash val="solid"/>
          </a:ln>
        </p:spPr>
      </p:sp>
      <p:sp>
        <p:nvSpPr>
          <p:cNvPr id="13" name="text_88"/>
          <p:cNvSpPr txBox="1"/>
          <p:nvPr/>
        </p:nvSpPr>
        <p:spPr>
          <a:xfrm>
            <a:off x="4846320" y="27889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did_agent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[ROS 2 узел · Python]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планировщик · журнал · A* · регулятор · одометрия + IMU</a:t>
            </a:r>
            <a:endParaRPr lang="en-US" sz="1600" dirty="0"/>
          </a:p>
        </p:txBody>
      </p:sp>
      <p:sp>
        <p:nvSpPr>
          <p:cNvPr id="14" name="arch_box_89"/>
          <p:cNvSpPr/>
          <p:nvPr/>
        </p:nvSpPr>
        <p:spPr>
          <a:xfrm>
            <a:off x="9098280" y="2697480"/>
            <a:ext cx="2361895" cy="1371600"/>
          </a:xfrm>
          <a:prstGeom prst="rect">
            <a:avLst/>
          </a:prstGeom>
          <a:solidFill>
            <a:srgbClr val="EEF3F1"/>
          </a:solidFill>
          <a:ln w="19050">
            <a:solidFill>
              <a:srgbClr val="0E7C66"/>
            </a:solidFill>
            <a:prstDash val="solid"/>
          </a:ln>
        </p:spPr>
      </p:sp>
      <p:sp>
        <p:nvSpPr>
          <p:cNvPr id="15" name="text_90"/>
          <p:cNvSpPr txBox="1"/>
          <p:nvPr/>
        </p:nvSpPr>
        <p:spPr>
          <a:xfrm>
            <a:off x="9235440" y="2788920"/>
            <a:ext cx="20875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did_judge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[ROS 2 узел · Python]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 сценариев, батарея, датчик, события, счёт</a:t>
            </a:r>
            <a:endParaRPr lang="en-US" sz="1600" dirty="0"/>
          </a:p>
        </p:txBody>
      </p:sp>
      <p:sp>
        <p:nvSpPr>
          <p:cNvPr id="16" name="arch_box_91"/>
          <p:cNvSpPr/>
          <p:nvPr/>
        </p:nvSpPr>
        <p:spPr>
          <a:xfrm>
            <a:off x="731520" y="4663440"/>
            <a:ext cx="2743200" cy="1234440"/>
          </a:xfrm>
          <a:prstGeom prst="rect">
            <a:avLst/>
          </a:prstGeom>
          <a:solidFill>
            <a:srgbClr val="EEF3F1"/>
          </a:solidFill>
          <a:ln w="19050">
            <a:solidFill>
              <a:srgbClr val="0E7C66"/>
            </a:solidFill>
            <a:prstDash val="solid"/>
          </a:ln>
        </p:spPr>
      </p:sp>
      <p:sp>
        <p:nvSpPr>
          <p:cNvPr id="17" name="text_92"/>
          <p:cNvSpPr txBox="1"/>
          <p:nvPr/>
        </p:nvSpPr>
        <p:spPr>
          <a:xfrm>
            <a:off x="868680" y="47548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+ база знаний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[map.yaml · knowledge.json]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стены; грунты и опасности прошлых миссий</a:t>
            </a:r>
            <a:endParaRPr lang="en-US" sz="1600" dirty="0"/>
          </a:p>
        </p:txBody>
      </p:sp>
      <p:sp>
        <p:nvSpPr>
          <p:cNvPr id="18" name="arch_box_93"/>
          <p:cNvSpPr/>
          <p:nvPr/>
        </p:nvSpPr>
        <p:spPr>
          <a:xfrm>
            <a:off x="4709160" y="4663440"/>
            <a:ext cx="3017520" cy="1234440"/>
          </a:xfrm>
          <a:prstGeom prst="rect">
            <a:avLst/>
          </a:prstGeom>
          <a:solidFill>
            <a:srgbClr val="EEF3F1"/>
          </a:solidFill>
          <a:ln w="19050">
            <a:solidFill>
              <a:srgbClr val="0E7C66"/>
            </a:solidFill>
            <a:prstDash val="solid"/>
          </a:ln>
        </p:spPr>
      </p:sp>
      <p:sp>
        <p:nvSpPr>
          <p:cNvPr id="19" name="text_94"/>
          <p:cNvSpPr txBox="1"/>
          <p:nvPr/>
        </p:nvSpPr>
        <p:spPr>
          <a:xfrm>
            <a:off x="4846320" y="475488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TurtleBot3 Burger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[Gazebo Sim Harmonic]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 turtlebot3_world</a:t>
            </a:r>
            <a:endParaRPr lang="en-US" sz="1600" dirty="0"/>
          </a:p>
        </p:txBody>
      </p:sp>
      <p:sp>
        <p:nvSpPr>
          <p:cNvPr id="20" name="arrow_95"/>
          <p:cNvSpPr/>
          <p:nvPr/>
        </p:nvSpPr>
        <p:spPr>
          <a:xfrm>
            <a:off x="2103120" y="2057400"/>
            <a:ext cx="0" cy="64008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1" name="text_96"/>
          <p:cNvSpPr txBox="1"/>
          <p:nvPr/>
        </p:nvSpPr>
        <p:spPr>
          <a:xfrm>
            <a:off x="2212848" y="20756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миссия / цели</a:t>
            </a:r>
            <a:endParaRPr lang="en-US" sz="1050" dirty="0"/>
          </a:p>
        </p:txBody>
      </p:sp>
      <p:sp>
        <p:nvSpPr>
          <p:cNvPr id="22" name="arrow_97"/>
          <p:cNvSpPr/>
          <p:nvPr/>
        </p:nvSpPr>
        <p:spPr>
          <a:xfrm>
            <a:off x="6217920" y="2057400"/>
            <a:ext cx="0" cy="64008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headEnd type="triangle"/>
            <a:tailEnd type="triangle"/>
          </a:ln>
        </p:spPr>
      </p:sp>
      <p:sp>
        <p:nvSpPr>
          <p:cNvPr id="23" name="text_98"/>
          <p:cNvSpPr txBox="1"/>
          <p:nvPr/>
        </p:nvSpPr>
        <p:spPr>
          <a:xfrm>
            <a:off x="6327648" y="20756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 журнал + варианты → выбор (JSON)</a:t>
            </a:r>
            <a:endParaRPr lang="en-US" sz="1050" dirty="0"/>
          </a:p>
        </p:txBody>
      </p:sp>
      <p:sp>
        <p:nvSpPr>
          <p:cNvPr id="24" name="arrow_99"/>
          <p:cNvSpPr/>
          <p:nvPr/>
        </p:nvSpPr>
        <p:spPr>
          <a:xfrm>
            <a:off x="3474720" y="3383280"/>
            <a:ext cx="123444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headEnd type="triangle"/>
            <a:tailEnd type="triangle"/>
          </a:ln>
        </p:spPr>
      </p:sp>
      <p:sp>
        <p:nvSpPr>
          <p:cNvPr id="25" name="text_100"/>
          <p:cNvSpPr txBox="1"/>
          <p:nvPr/>
        </p:nvSpPr>
        <p:spPr>
          <a:xfrm>
            <a:off x="3566160" y="2788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/goal_pose /clicked_point</a:t>
            </a:r>
            <a:endParaRPr lang="en-US" sz="1050" dirty="0"/>
          </a:p>
        </p:txBody>
      </p:sp>
      <p:sp>
        <p:nvSpPr>
          <p:cNvPr id="26" name="text_101"/>
          <p:cNvSpPr txBox="1"/>
          <p:nvPr/>
        </p:nvSpPr>
        <p:spPr>
          <a:xfrm>
            <a:off x="3566160" y="3474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/did_agent/state, /lab</a:t>
            </a:r>
            <a:endParaRPr lang="en-US" sz="1050" dirty="0"/>
          </a:p>
        </p:txBody>
      </p:sp>
      <p:sp>
        <p:nvSpPr>
          <p:cNvPr id="27" name="arrow_102"/>
          <p:cNvSpPr/>
          <p:nvPr/>
        </p:nvSpPr>
        <p:spPr>
          <a:xfrm>
            <a:off x="7726680" y="3383280"/>
            <a:ext cx="137160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headEnd type="triangle"/>
            <a:tailEnd type="triangle"/>
          </a:ln>
        </p:spPr>
      </p:sp>
      <p:sp>
        <p:nvSpPr>
          <p:cNvPr id="28" name="text_103"/>
          <p:cNvSpPr txBox="1"/>
          <p:nvPr/>
        </p:nvSpPr>
        <p:spPr>
          <a:xfrm>
            <a:off x="7818120" y="2788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/did/battery, sample_sensor, events</a:t>
            </a:r>
            <a:endParaRPr lang="en-US" sz="1050" dirty="0"/>
          </a:p>
        </p:txBody>
      </p:sp>
      <p:sp>
        <p:nvSpPr>
          <p:cNvPr id="29" name="text_104"/>
          <p:cNvSpPr txBox="1"/>
          <p:nvPr/>
        </p:nvSpPr>
        <p:spPr>
          <a:xfrm>
            <a:off x="7818120" y="34747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/did/collect /did/finish</a:t>
            </a:r>
            <a:endParaRPr lang="en-US" sz="1050" dirty="0"/>
          </a:p>
        </p:txBody>
      </p:sp>
      <p:sp>
        <p:nvSpPr>
          <p:cNvPr id="30" name="arrow_105"/>
          <p:cNvSpPr/>
          <p:nvPr/>
        </p:nvSpPr>
        <p:spPr>
          <a:xfrm flipV="1">
            <a:off x="3474720" y="3886200"/>
            <a:ext cx="1234440" cy="132588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headEnd type="triangle"/>
            <a:tailEnd type="triangle"/>
          </a:ln>
        </p:spPr>
      </p:sp>
      <p:sp>
        <p:nvSpPr>
          <p:cNvPr id="31" name="text_106"/>
          <p:cNvSpPr txBox="1"/>
          <p:nvPr/>
        </p:nvSpPr>
        <p:spPr>
          <a:xfrm>
            <a:off x="4206240" y="4663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 пишет</a:t>
            </a:r>
            <a:endParaRPr lang="en-US" sz="1050" dirty="0"/>
          </a:p>
        </p:txBody>
      </p:sp>
      <p:sp>
        <p:nvSpPr>
          <p:cNvPr id="32" name="arrow_107"/>
          <p:cNvSpPr/>
          <p:nvPr/>
        </p:nvSpPr>
        <p:spPr>
          <a:xfrm>
            <a:off x="6217920" y="4069080"/>
            <a:ext cx="0" cy="59436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headEnd type="triangle"/>
            <a:tailEnd type="triangle"/>
          </a:ln>
        </p:spPr>
      </p:sp>
      <p:sp>
        <p:nvSpPr>
          <p:cNvPr id="33" name="text_108"/>
          <p:cNvSpPr txBox="1"/>
          <p:nvPr/>
        </p:nvSpPr>
        <p:spPr>
          <a:xfrm>
            <a:off x="635508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/cmd_vel ↓   /odom /imu /scan ↑ (ros_gz_bridge)</a:t>
            </a:r>
            <a:endParaRPr lang="en-US" sz="1050" dirty="0"/>
          </a:p>
        </p:txBody>
      </p:sp>
      <p:sp>
        <p:nvSpPr>
          <p:cNvPr id="34" name="arrow_109"/>
          <p:cNvSpPr/>
          <p:nvPr/>
        </p:nvSpPr>
        <p:spPr>
          <a:xfrm>
            <a:off x="7726680" y="5257800"/>
            <a:ext cx="260604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35" name="arrow_110"/>
          <p:cNvSpPr/>
          <p:nvPr/>
        </p:nvSpPr>
        <p:spPr>
          <a:xfrm flipV="1">
            <a:off x="10332720" y="4069080"/>
            <a:ext cx="0" cy="118872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36" name="text_111"/>
          <p:cNvSpPr txBox="1"/>
          <p:nvPr/>
        </p:nvSpPr>
        <p:spPr>
          <a:xfrm>
            <a:off x="7863840" y="5349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истинная поза робота (gz-transport)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и движение: от карты до колёс</a:t>
            </a:r>
            <a:endParaRPr lang="en-US" sz="3000" dirty="0"/>
          </a:p>
        </p:txBody>
      </p:sp>
      <p:sp>
        <p:nvSpPr>
          <p:cNvPr id="3" name="tracker_1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  ·   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  ·   </a:t>
            </a:r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050" dirty="0"/>
          </a:p>
        </p:txBody>
      </p:sp>
      <p:sp>
        <p:nvSpPr>
          <p:cNvPr id="4" name="card_114"/>
          <p:cNvSpPr/>
          <p:nvPr/>
        </p:nvSpPr>
        <p:spPr>
          <a:xfrm>
            <a:off x="548640" y="1280160"/>
            <a:ext cx="201168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5" name="text_115"/>
          <p:cNvSpPr txBox="1"/>
          <p:nvPr/>
        </p:nvSpPr>
        <p:spPr>
          <a:xfrm>
            <a:off x="68580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Статичная карта</a:t>
            </a:r>
            <a:endParaRPr lang="en-US" sz="1450" dirty="0"/>
          </a:p>
        </p:txBody>
      </p:sp>
      <p:sp>
        <p:nvSpPr>
          <p:cNvPr id="6" name="text_116"/>
          <p:cNvSpPr txBox="1"/>
          <p:nvPr/>
        </p:nvSpPr>
        <p:spPr>
          <a:xfrm>
            <a:off x="685800" y="193852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384×384 клеток по 5 см, совпадение с миром проверено (4 см)</a:t>
            </a:r>
            <a:endParaRPr lang="en-US" sz="1200" dirty="0"/>
          </a:p>
        </p:txBody>
      </p:sp>
      <p:sp>
        <p:nvSpPr>
          <p:cNvPr id="7" name="arrow_117"/>
          <p:cNvSpPr/>
          <p:nvPr/>
        </p:nvSpPr>
        <p:spPr>
          <a:xfrm>
            <a:off x="2578608" y="2121408"/>
            <a:ext cx="222428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8" name="card_118"/>
          <p:cNvSpPr/>
          <p:nvPr/>
        </p:nvSpPr>
        <p:spPr>
          <a:xfrm>
            <a:off x="2819324" y="1280160"/>
            <a:ext cx="201168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9" name="text_119"/>
          <p:cNvSpPr txBox="1"/>
          <p:nvPr/>
        </p:nvSpPr>
        <p:spPr>
          <a:xfrm>
            <a:off x="2956484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Карта стоимостей</a:t>
            </a:r>
            <a:endParaRPr lang="en-US" sz="1450" dirty="0"/>
          </a:p>
        </p:txBody>
      </p:sp>
      <p:sp>
        <p:nvSpPr>
          <p:cNvPr id="10" name="text_120"/>
          <p:cNvSpPr txBox="1"/>
          <p:nvPr/>
        </p:nvSpPr>
        <p:spPr>
          <a:xfrm>
            <a:off x="2956484" y="193852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запрет 0,2 м у стен + выученные грунты и опасности</a:t>
            </a:r>
            <a:endParaRPr lang="en-US" sz="1200" dirty="0"/>
          </a:p>
        </p:txBody>
      </p:sp>
      <p:sp>
        <p:nvSpPr>
          <p:cNvPr id="11" name="arrow_121"/>
          <p:cNvSpPr/>
          <p:nvPr/>
        </p:nvSpPr>
        <p:spPr>
          <a:xfrm>
            <a:off x="4849292" y="2121408"/>
            <a:ext cx="222428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12" name="card_122"/>
          <p:cNvSpPr/>
          <p:nvPr/>
        </p:nvSpPr>
        <p:spPr>
          <a:xfrm>
            <a:off x="5090008" y="1280160"/>
            <a:ext cx="201168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3" name="text_123"/>
          <p:cNvSpPr txBox="1"/>
          <p:nvPr/>
        </p:nvSpPr>
        <p:spPr>
          <a:xfrm>
            <a:off x="5227168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A*</a:t>
            </a:r>
            <a:endParaRPr lang="en-US" sz="1450" dirty="0"/>
          </a:p>
        </p:txBody>
      </p:sp>
      <p:sp>
        <p:nvSpPr>
          <p:cNvPr id="14" name="text_124"/>
          <p:cNvSpPr txBox="1"/>
          <p:nvPr/>
        </p:nvSpPr>
        <p:spPr>
          <a:xfrm>
            <a:off x="5227168" y="193852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дешёвый путь по сетке, ~10 мс</a:t>
            </a:r>
            <a:endParaRPr lang="en-US" sz="1200" dirty="0"/>
          </a:p>
        </p:txBody>
      </p:sp>
      <p:sp>
        <p:nvSpPr>
          <p:cNvPr id="15" name="arrow_125"/>
          <p:cNvSpPr/>
          <p:nvPr/>
        </p:nvSpPr>
        <p:spPr>
          <a:xfrm>
            <a:off x="7119976" y="2121408"/>
            <a:ext cx="222428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16" name="card_126"/>
          <p:cNvSpPr/>
          <p:nvPr/>
        </p:nvSpPr>
        <p:spPr>
          <a:xfrm>
            <a:off x="7360691" y="1280160"/>
            <a:ext cx="201168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7" name="text_127"/>
          <p:cNvSpPr txBox="1"/>
          <p:nvPr/>
        </p:nvSpPr>
        <p:spPr>
          <a:xfrm>
            <a:off x="7497851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Путевые точки</a:t>
            </a:r>
            <a:endParaRPr lang="en-US" sz="1450" dirty="0"/>
          </a:p>
        </p:txBody>
      </p:sp>
      <p:sp>
        <p:nvSpPr>
          <p:cNvPr id="18" name="text_128"/>
          <p:cNvSpPr txBox="1"/>
          <p:nvPr/>
        </p:nvSpPr>
        <p:spPr>
          <a:xfrm>
            <a:off x="7497851" y="193852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3–10 отрезков, срезка - только если не дороже</a:t>
            </a:r>
            <a:endParaRPr lang="en-US" sz="1200" dirty="0"/>
          </a:p>
        </p:txBody>
      </p:sp>
      <p:sp>
        <p:nvSpPr>
          <p:cNvPr id="19" name="arrow_129"/>
          <p:cNvSpPr/>
          <p:nvPr/>
        </p:nvSpPr>
        <p:spPr>
          <a:xfrm>
            <a:off x="9390659" y="2121408"/>
            <a:ext cx="222428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20" name="card_130"/>
          <p:cNvSpPr/>
          <p:nvPr/>
        </p:nvSpPr>
        <p:spPr>
          <a:xfrm>
            <a:off x="9631375" y="1280160"/>
            <a:ext cx="2011680" cy="1691640"/>
          </a:xfrm>
          <a:prstGeom prst="roundRect">
            <a:avLst>
              <a:gd name="adj" fmla="val 4324"/>
            </a:avLst>
          </a:prstGeom>
          <a:solidFill>
            <a:schemeClr val="tx1"/>
          </a:solidFill>
          <a:ln/>
        </p:spPr>
      </p:sp>
      <p:sp>
        <p:nvSpPr>
          <p:cNvPr id="21" name="text_131"/>
          <p:cNvSpPr txBox="1"/>
          <p:nvPr/>
        </p:nvSpPr>
        <p:spPr>
          <a:xfrm>
            <a:off x="9768535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Регулятор + лидар</a:t>
            </a:r>
            <a:endParaRPr lang="en-US" sz="1450" dirty="0"/>
          </a:p>
        </p:txBody>
      </p:sp>
      <p:sp>
        <p:nvSpPr>
          <p:cNvPr id="22" name="text_132"/>
          <p:cNvSpPr txBox="1"/>
          <p:nvPr/>
        </p:nvSpPr>
        <p:spPr>
          <a:xfrm>
            <a:off x="9768535" y="193852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Гц, ≤ 0,22 м/с, стоп ближе 0,16 м → /cmd_vel</a:t>
            </a:r>
            <a:endParaRPr lang="en-US" sz="1200" dirty="0"/>
          </a:p>
        </p:txBody>
      </p:sp>
      <p:pic>
        <p:nvPicPr>
          <p:cNvPr id="23" name="costmap_path" descr="C:\Users\1\AppData\Local\Temp\claude\--wsl-localhost-Ubuntu-home-konstsmir-innopolis-proj\725ee427-e78d-4e35-ab66-b60b3292cb6d\scratchpad\deck\scenario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0"/>
            <a:ext cx="3017520" cy="2889464"/>
          </a:xfrm>
          <a:prstGeom prst="rect">
            <a:avLst/>
          </a:prstGeom>
        </p:spPr>
      </p:pic>
      <p:sp>
        <p:nvSpPr>
          <p:cNvPr id="24" name="card_133"/>
          <p:cNvSpPr/>
          <p:nvPr/>
        </p:nvSpPr>
        <p:spPr>
          <a:xfrm>
            <a:off x="3886200" y="3200400"/>
            <a:ext cx="7756855" cy="2889504"/>
          </a:xfrm>
          <a:prstGeom prst="roundRect">
            <a:avLst>
              <a:gd name="adj" fmla="val 2532"/>
            </a:avLst>
          </a:prstGeom>
          <a:solidFill>
            <a:schemeClr val="bg2"/>
          </a:solidFill>
          <a:ln/>
        </p:spPr>
      </p:sp>
      <p:sp>
        <p:nvSpPr>
          <p:cNvPr id="25" name="text_134"/>
          <p:cNvSpPr txBox="1"/>
          <p:nvPr/>
        </p:nvSpPr>
        <p:spPr>
          <a:xfrm>
            <a:off x="4160520" y="5486400"/>
            <a:ext cx="7208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Слева: карта стоимостей - розовое = запретная зона 0,2 м, оранжевые круги = дорогие грунты; пунктир - план</a:t>
            </a:r>
            <a:endParaRPr lang="en-US" sz="1150" dirty="0"/>
          </a:p>
        </p:txBody>
      </p:sp>
      <p:sp>
        <p:nvSpPr>
          <p:cNvPr id="26" name="text_135"/>
          <p:cNvSpPr txBox="1"/>
          <p:nvPr/>
        </p:nvSpPr>
        <p:spPr>
          <a:xfrm>
            <a:off x="416052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Положение робота</a:t>
            </a:r>
            <a:endParaRPr lang="en-US" sz="1700" dirty="0"/>
          </a:p>
        </p:txBody>
      </p:sp>
      <p:sp>
        <p:nvSpPr>
          <p:cNvPr id="27" name="text_136"/>
          <p:cNvSpPr txBox="1"/>
          <p:nvPr/>
        </p:nvSpPr>
        <p:spPr>
          <a:xfrm>
            <a:off x="4160520" y="3749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- из одометрии колёс, курс - из IMU (гироскоп)</a:t>
            </a:r>
            <a:endParaRPr lang="en-US" sz="1350" dirty="0"/>
          </a:p>
        </p:txBody>
      </p:sp>
      <p:sp>
        <p:nvSpPr>
          <p:cNvPr id="28" name="text_137"/>
          <p:cNvSpPr txBox="1"/>
          <p:nvPr/>
        </p:nvSpPr>
        <p:spPr>
          <a:xfrm>
            <a:off x="4160520" y="41148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0,28 м</a:t>
            </a:r>
            <a:pPr indent="0" marL="0">
              <a:buNone/>
            </a:pPr>
            <a:r>
              <a:rPr lang="en-US" sz="38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0,05 м</a:t>
            </a:r>
            <a:endParaRPr lang="en-US" sz="3800" dirty="0"/>
          </a:p>
        </p:txBody>
      </p:sp>
      <p:sp>
        <p:nvSpPr>
          <p:cNvPr id="29" name="text_138"/>
          <p:cNvSpPr txBox="1"/>
          <p:nvPr/>
        </p:nvSpPr>
        <p:spPr>
          <a:xfrm>
            <a:off x="4160520" y="4892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позиции у образца (радиус сбора - 0,30 м); агент публикует поправку map→odom - робот и лидар точно на карте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агент исследует: цикл и роль LLM</a:t>
            </a:r>
            <a:endParaRPr lang="en-US" sz="3000" dirty="0"/>
          </a:p>
        </p:txBody>
      </p:sp>
      <p:sp>
        <p:nvSpPr>
          <p:cNvPr id="3" name="tracker_13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  ·   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  ·   </a:t>
            </a:r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050" dirty="0"/>
          </a:p>
        </p:txBody>
      </p:sp>
      <p:sp>
        <p:nvSpPr>
          <p:cNvPr id="4" name="card_141"/>
          <p:cNvSpPr/>
          <p:nvPr/>
        </p:nvSpPr>
        <p:spPr>
          <a:xfrm>
            <a:off x="548640" y="1280160"/>
            <a:ext cx="2011680" cy="1737360"/>
          </a:xfrm>
          <a:prstGeom prst="roundRect">
            <a:avLst>
              <a:gd name="adj" fmla="val 4211"/>
            </a:avLst>
          </a:prstGeom>
          <a:solidFill>
            <a:schemeClr val="accent6"/>
          </a:solidFill>
          <a:ln/>
        </p:spPr>
      </p:sp>
      <p:sp>
        <p:nvSpPr>
          <p:cNvPr id="5" name="text_142"/>
          <p:cNvSpPr txBox="1"/>
          <p:nvPr/>
        </p:nvSpPr>
        <p:spPr>
          <a:xfrm>
            <a:off x="68580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Гипотеза</a:t>
            </a:r>
            <a:endParaRPr lang="en-US" sz="1450" dirty="0"/>
          </a:p>
        </p:txBody>
      </p:sp>
      <p:sp>
        <p:nvSpPr>
          <p:cNvPr id="6" name="text_143"/>
          <p:cNvSpPr txBox="1"/>
          <p:nvPr/>
        </p:nvSpPr>
        <p:spPr>
          <a:xfrm>
            <a:off x="685800" y="193852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«образец около (x; y)» · «зона ×2» · «датчик сбоит»</a:t>
            </a:r>
            <a:endParaRPr lang="en-US" sz="1200" dirty="0"/>
          </a:p>
        </p:txBody>
      </p:sp>
      <p:sp>
        <p:nvSpPr>
          <p:cNvPr id="7" name="arrow_144"/>
          <p:cNvSpPr/>
          <p:nvPr/>
        </p:nvSpPr>
        <p:spPr>
          <a:xfrm>
            <a:off x="2578608" y="2167128"/>
            <a:ext cx="222428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8" name="card_145"/>
          <p:cNvSpPr/>
          <p:nvPr/>
        </p:nvSpPr>
        <p:spPr>
          <a:xfrm>
            <a:off x="2819324" y="1280160"/>
            <a:ext cx="20116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9" name="text_146"/>
          <p:cNvSpPr txBox="1"/>
          <p:nvPr/>
        </p:nvSpPr>
        <p:spPr>
          <a:xfrm>
            <a:off x="2956484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Действие</a:t>
            </a:r>
            <a:endParaRPr lang="en-US" sz="1450" dirty="0"/>
          </a:p>
        </p:txBody>
      </p:sp>
      <p:sp>
        <p:nvSpPr>
          <p:cNvPr id="10" name="text_147"/>
          <p:cNvSpPr txBox="1"/>
          <p:nvPr/>
        </p:nvSpPr>
        <p:spPr>
          <a:xfrm>
            <a:off x="2956484" y="193852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подъехать, постоять, усреднить; проехать по зоне</a:t>
            </a:r>
            <a:endParaRPr lang="en-US" sz="1200" dirty="0"/>
          </a:p>
        </p:txBody>
      </p:sp>
      <p:sp>
        <p:nvSpPr>
          <p:cNvPr id="11" name="arrow_148"/>
          <p:cNvSpPr/>
          <p:nvPr/>
        </p:nvSpPr>
        <p:spPr>
          <a:xfrm>
            <a:off x="4849292" y="2167128"/>
            <a:ext cx="222428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12" name="card_149"/>
          <p:cNvSpPr/>
          <p:nvPr/>
        </p:nvSpPr>
        <p:spPr>
          <a:xfrm>
            <a:off x="5090008" y="1280160"/>
            <a:ext cx="20116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text_150"/>
          <p:cNvSpPr txBox="1"/>
          <p:nvPr/>
        </p:nvSpPr>
        <p:spPr>
          <a:xfrm>
            <a:off x="5227168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Данные</a:t>
            </a:r>
            <a:endParaRPr lang="en-US" sz="1450" dirty="0"/>
          </a:p>
        </p:txBody>
      </p:sp>
      <p:sp>
        <p:nvSpPr>
          <p:cNvPr id="14" name="text_151"/>
          <p:cNvSpPr txBox="1"/>
          <p:nvPr/>
        </p:nvSpPr>
        <p:spPr>
          <a:xfrm>
            <a:off x="5227168" y="193852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датчик: d = −0,7·ln s; батарея: μ = расход / k</a:t>
            </a:r>
            <a:endParaRPr lang="en-US" sz="1200" dirty="0"/>
          </a:p>
        </p:txBody>
      </p:sp>
      <p:sp>
        <p:nvSpPr>
          <p:cNvPr id="15" name="arrow_152"/>
          <p:cNvSpPr/>
          <p:nvPr/>
        </p:nvSpPr>
        <p:spPr>
          <a:xfrm>
            <a:off x="7119976" y="2167128"/>
            <a:ext cx="222428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16" name="card_153"/>
          <p:cNvSpPr/>
          <p:nvPr/>
        </p:nvSpPr>
        <p:spPr>
          <a:xfrm>
            <a:off x="7360691" y="1280160"/>
            <a:ext cx="20116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7" name="text_154"/>
          <p:cNvSpPr txBox="1"/>
          <p:nvPr/>
        </p:nvSpPr>
        <p:spPr>
          <a:xfrm>
            <a:off x="7497851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Вывод</a:t>
            </a:r>
            <a:endParaRPr lang="en-US" sz="1450" dirty="0"/>
          </a:p>
        </p:txBody>
      </p:sp>
      <p:sp>
        <p:nvSpPr>
          <p:cNvPr id="18" name="text_155"/>
          <p:cNvSpPr txBox="1"/>
          <p:nvPr/>
        </p:nvSpPr>
        <p:spPr>
          <a:xfrm>
            <a:off x="7497851" y="193852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подтверждена / опровергнута / изменилась → карта</a:t>
            </a:r>
            <a:endParaRPr lang="en-US" sz="1200" dirty="0"/>
          </a:p>
        </p:txBody>
      </p:sp>
      <p:sp>
        <p:nvSpPr>
          <p:cNvPr id="19" name="arrow_156"/>
          <p:cNvSpPr/>
          <p:nvPr/>
        </p:nvSpPr>
        <p:spPr>
          <a:xfrm>
            <a:off x="9390659" y="2167128"/>
            <a:ext cx="222428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20" name="card_157"/>
          <p:cNvSpPr/>
          <p:nvPr/>
        </p:nvSpPr>
        <p:spPr>
          <a:xfrm>
            <a:off x="9631375" y="1280160"/>
            <a:ext cx="20116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1" name="text_158"/>
          <p:cNvSpPr txBox="1"/>
          <p:nvPr/>
        </p:nvSpPr>
        <p:spPr>
          <a:xfrm>
            <a:off x="9768535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Новая гипотеза</a:t>
            </a:r>
            <a:endParaRPr lang="en-US" sz="1450" dirty="0"/>
          </a:p>
        </p:txBody>
      </p:sp>
      <p:sp>
        <p:nvSpPr>
          <p:cNvPr id="22" name="text_159"/>
          <p:cNvSpPr txBox="1"/>
          <p:nvPr/>
        </p:nvSpPr>
        <p:spPr>
          <a:xfrm>
            <a:off x="9768535" y="193852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маршрут; знание - в базу для следующей миссии</a:t>
            </a:r>
            <a:endParaRPr lang="en-US" sz="1200" dirty="0"/>
          </a:p>
        </p:txBody>
      </p:sp>
      <p:sp>
        <p:nvSpPr>
          <p:cNvPr id="23" name="arrow_160"/>
          <p:cNvSpPr/>
          <p:nvPr/>
        </p:nvSpPr>
        <p:spPr>
          <a:xfrm>
            <a:off x="10637215" y="3017520"/>
            <a:ext cx="0" cy="411480"/>
          </a:xfrm>
          <a:prstGeom prst="line">
            <a:avLst/>
          </a:prstGeom>
          <a:noFill/>
          <a:ln w="25400">
            <a:solidFill>
              <a:srgbClr val="D1495B"/>
            </a:solidFill>
            <a:prstDash val="solid"/>
          </a:ln>
        </p:spPr>
      </p:sp>
      <p:sp>
        <p:nvSpPr>
          <p:cNvPr id="24" name="arrow_161"/>
          <p:cNvSpPr/>
          <p:nvPr/>
        </p:nvSpPr>
        <p:spPr>
          <a:xfrm>
            <a:off x="1554480" y="3429000"/>
            <a:ext cx="9082735" cy="0"/>
          </a:xfrm>
          <a:prstGeom prst="line">
            <a:avLst/>
          </a:prstGeom>
          <a:noFill/>
          <a:ln w="25400">
            <a:solidFill>
              <a:srgbClr val="D1495B"/>
            </a:solidFill>
            <a:prstDash val="solid"/>
          </a:ln>
        </p:spPr>
      </p:sp>
      <p:sp>
        <p:nvSpPr>
          <p:cNvPr id="25" name="arrow_162"/>
          <p:cNvSpPr/>
          <p:nvPr/>
        </p:nvSpPr>
        <p:spPr>
          <a:xfrm flipV="1">
            <a:off x="1554480" y="3035808"/>
            <a:ext cx="0" cy="393192"/>
          </a:xfrm>
          <a:prstGeom prst="line">
            <a:avLst/>
          </a:prstGeom>
          <a:noFill/>
          <a:ln w="25400">
            <a:solidFill>
              <a:srgbClr val="D1495B"/>
            </a:solidFill>
            <a:prstDash val="solid"/>
            <a:tailEnd type="triangle"/>
          </a:ln>
        </p:spPr>
      </p:sp>
      <p:sp>
        <p:nvSpPr>
          <p:cNvPr id="26" name="text_163"/>
          <p:cNvSpPr txBox="1"/>
          <p:nvPr/>
        </p:nvSpPr>
        <p:spPr>
          <a:xfrm>
            <a:off x="1554480" y="3520440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адаптация: расход ушёл &gt; 30 % · шум датчика ×3 · штраф опасной зоны → гипотеза, карта, перепланирование</a:t>
            </a:r>
            <a:endParaRPr lang="en-US" sz="1200" dirty="0"/>
          </a:p>
        </p:txBody>
      </p:sp>
      <p:sp>
        <p:nvSpPr>
          <p:cNvPr id="27" name="card_164"/>
          <p:cNvSpPr/>
          <p:nvPr/>
        </p:nvSpPr>
        <p:spPr>
          <a:xfrm>
            <a:off x="548640" y="4069080"/>
            <a:ext cx="5410048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28" name="icon_bg_165"/>
          <p:cNvSpPr/>
          <p:nvPr/>
        </p:nvSpPr>
        <p:spPr>
          <a:xfrm>
            <a:off x="777240" y="4251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con_16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4383634"/>
            <a:ext cx="285293" cy="285293"/>
          </a:xfrm>
          <a:prstGeom prst="rect">
            <a:avLst/>
          </a:prstGeom>
        </p:spPr>
      </p:pic>
      <p:sp>
        <p:nvSpPr>
          <p:cNvPr id="30" name="text_167"/>
          <p:cNvSpPr txBox="1"/>
          <p:nvPr/>
        </p:nvSpPr>
        <p:spPr>
          <a:xfrm>
            <a:off x="1508760" y="4343400"/>
            <a:ext cx="422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ведёт робота</a:t>
            </a:r>
            <a:endParaRPr lang="en-US" sz="1600" dirty="0"/>
          </a:p>
        </p:txBody>
      </p:sp>
      <p:sp>
        <p:nvSpPr>
          <p:cNvPr id="31" name="text_168"/>
          <p:cNvSpPr txBox="1"/>
          <p:nvPr/>
        </p:nvSpPr>
        <p:spPr>
          <a:xfrm>
            <a:off x="777240" y="4937760"/>
            <a:ext cx="495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разведка, поиск по датчику, оценка грунтов, A*; считает варианты для модели и проверяет каждый её ответ</a:t>
            </a:r>
            <a:endParaRPr lang="en-US" sz="1350" dirty="0"/>
          </a:p>
        </p:txBody>
      </p:sp>
      <p:sp>
        <p:nvSpPr>
          <p:cNvPr id="32" name="card_169"/>
          <p:cNvSpPr/>
          <p:nvPr/>
        </p:nvSpPr>
        <p:spPr>
          <a:xfrm>
            <a:off x="6233008" y="4069080"/>
            <a:ext cx="5410048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33" name="icon_bg_170"/>
          <p:cNvSpPr/>
          <p:nvPr/>
        </p:nvSpPr>
        <p:spPr>
          <a:xfrm>
            <a:off x="6461608" y="42519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4" name="icon_17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281" y="4383634"/>
            <a:ext cx="285293" cy="285293"/>
          </a:xfrm>
          <a:prstGeom prst="rect">
            <a:avLst/>
          </a:prstGeom>
        </p:spPr>
      </p:pic>
      <p:sp>
        <p:nvSpPr>
          <p:cNvPr id="35" name="text_172"/>
          <p:cNvSpPr txBox="1"/>
          <p:nvPr/>
        </p:nvSpPr>
        <p:spPr>
          <a:xfrm>
            <a:off x="7193128" y="4343400"/>
            <a:ext cx="422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- научный руководитель</a:t>
            </a:r>
            <a:endParaRPr lang="en-US" sz="1600" dirty="0"/>
          </a:p>
        </p:txBody>
      </p:sp>
      <p:sp>
        <p:nvSpPr>
          <p:cNvPr id="36" name="text_173"/>
          <p:cNvSpPr txBox="1"/>
          <p:nvPr/>
        </p:nvSpPr>
        <p:spPr>
          <a:xfrm>
            <a:off x="6461608" y="4937760"/>
            <a:ext cx="495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ключевые моменты читает журнал и выбирает сектор разведки или «домой», объясняет и предлагает гипотезу; робот не ждёт ответа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endParaRPr lang="en-US" sz="3000" dirty="0"/>
          </a:p>
        </p:txBody>
      </p:sp>
      <p:sp>
        <p:nvSpPr>
          <p:cNvPr id="3" name="tracker_17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  ·   </a:t>
            </a:r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  ·   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050" dirty="0"/>
          </a:p>
        </p:txBody>
      </p:sp>
      <p:sp>
        <p:nvSpPr>
          <p:cNvPr id="4" name="card_176"/>
          <p:cNvSpPr/>
          <p:nvPr/>
        </p:nvSpPr>
        <p:spPr>
          <a:xfrm>
            <a:off x="548640" y="123444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5" name="text_177"/>
          <p:cNvSpPr txBox="1"/>
          <p:nvPr/>
        </p:nvSpPr>
        <p:spPr>
          <a:xfrm>
            <a:off x="731520" y="1325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3000" dirty="0"/>
          </a:p>
        </p:txBody>
      </p:sp>
      <p:sp>
        <p:nvSpPr>
          <p:cNvPr id="6" name="text_178"/>
          <p:cNvSpPr txBox="1"/>
          <p:nvPr/>
        </p:nvSpPr>
        <p:spPr>
          <a:xfrm>
            <a:off x="73152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в Gazebo без координат образцов, 0 штрафов</a:t>
            </a:r>
            <a:endParaRPr lang="en-US" sz="1200" dirty="0"/>
          </a:p>
        </p:txBody>
      </p:sp>
      <p:sp>
        <p:nvSpPr>
          <p:cNvPr id="7" name="card_179"/>
          <p:cNvSpPr/>
          <p:nvPr/>
        </p:nvSpPr>
        <p:spPr>
          <a:xfrm>
            <a:off x="3355848" y="123444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8" name="text_180"/>
          <p:cNvSpPr txBox="1"/>
          <p:nvPr/>
        </p:nvSpPr>
        <p:spPr>
          <a:xfrm>
            <a:off x="3538728" y="1325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/ 360</a:t>
            </a:r>
            <a:endParaRPr lang="en-US" sz="3000" dirty="0"/>
          </a:p>
        </p:txBody>
      </p:sp>
      <p:sp>
        <p:nvSpPr>
          <p:cNvPr id="9" name="text_181"/>
          <p:cNvSpPr txBox="1"/>
          <p:nvPr/>
        </p:nvSpPr>
        <p:spPr>
          <a:xfrm>
            <a:off x="3538728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миссий офлайн вернулись на базу</a:t>
            </a:r>
            <a:endParaRPr lang="en-US" sz="1200" dirty="0"/>
          </a:p>
        </p:txBody>
      </p:sp>
      <p:sp>
        <p:nvSpPr>
          <p:cNvPr id="10" name="card_182"/>
          <p:cNvSpPr/>
          <p:nvPr/>
        </p:nvSpPr>
        <p:spPr>
          <a:xfrm>
            <a:off x="6163056" y="123444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1" name="text_183"/>
          <p:cNvSpPr txBox="1"/>
          <p:nvPr/>
        </p:nvSpPr>
        <p:spPr>
          <a:xfrm>
            <a:off x="6345936" y="1325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vs 20</a:t>
            </a:r>
            <a:endParaRPr lang="en-US" sz="3000" dirty="0"/>
          </a:p>
        </p:txBody>
      </p:sp>
      <p:sp>
        <p:nvSpPr>
          <p:cNvPr id="12" name="text_184"/>
          <p:cNvSpPr txBox="1"/>
          <p:nvPr/>
        </p:nvSpPr>
        <p:spPr>
          <a:xfrm>
            <a:off x="6345936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штрафов в hard с базой знаний (H2)</a:t>
            </a:r>
            <a:endParaRPr lang="en-US" sz="1200" dirty="0"/>
          </a:p>
        </p:txBody>
      </p:sp>
      <p:sp>
        <p:nvSpPr>
          <p:cNvPr id="13" name="card_185"/>
          <p:cNvSpPr/>
          <p:nvPr/>
        </p:nvSpPr>
        <p:spPr>
          <a:xfrm>
            <a:off x="8970264" y="123444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4" name="text_186"/>
          <p:cNvSpPr txBox="1"/>
          <p:nvPr/>
        </p:nvSpPr>
        <p:spPr>
          <a:xfrm>
            <a:off x="9153144" y="1325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121</a:t>
            </a:r>
            <a:endParaRPr lang="en-US" sz="3000" dirty="0"/>
          </a:p>
        </p:txBody>
      </p:sp>
      <p:sp>
        <p:nvSpPr>
          <p:cNvPr id="15" name="text_187"/>
          <p:cNvSpPr txBox="1"/>
          <p:nvPr/>
        </p:nvSpPr>
        <p:spPr>
          <a:xfrm>
            <a:off x="9153144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отклонённых ответов LLM-советника</a:t>
            </a:r>
            <a:endParaRPr lang="en-US" sz="1200" dirty="0"/>
          </a:p>
        </p:txBody>
      </p:sp>
      <p:graphicFrame>
        <p:nvGraphicFramePr>
          <p:cNvPr id="10" name="gazebo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6126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60120"/>
                <a:gridCol w="914400"/>
                <a:gridCol w="1051560"/>
                <a:gridCol w="10058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Gazebo, научный агент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Образцы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Возврат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Штрафы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Счёт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· через пульт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· + LLM · заряд 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text_188"/>
          <p:cNvSpPr txBox="1"/>
          <p:nvPr/>
        </p:nvSpPr>
        <p:spPr>
          <a:xfrm>
            <a:off x="548640" y="525780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Сбой датчика в hard агент распознал сам: гипотеза на 73 с, «датчик восстановился» на 105 с. При заряде 30 в Gazebo расход выше, чем офлайн, - агент вернулся с резервом</a:t>
            </a:r>
            <a:endParaRPr lang="en-US" sz="1150" dirty="0"/>
          </a:p>
        </p:txBody>
      </p:sp>
      <p:graphicFrame>
        <p:nvGraphicFramePr>
          <p:cNvPr id="18" name="h2_chart" descr=""/>
          <p:cNvGraphicFramePr/>
          <p:nvPr/>
        </p:nvGraphicFramePr>
        <p:xfrm>
          <a:off x="6903720" y="2880360"/>
          <a:ext cx="4739335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как инфраструктура знаний</a:t>
            </a:r>
            <a:endParaRPr lang="en-US" sz="3000" dirty="0"/>
          </a:p>
        </p:txBody>
      </p:sp>
      <p:sp>
        <p:nvSpPr>
          <p:cNvPr id="3" name="tracker_18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  ·   </a:t>
            </a:r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  ·   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050" dirty="0"/>
          </a:p>
        </p:txBody>
      </p:sp>
      <p:sp>
        <p:nvSpPr>
          <p:cNvPr id="4" name="card_191"/>
          <p:cNvSpPr/>
          <p:nvPr/>
        </p:nvSpPr>
        <p:spPr>
          <a:xfrm>
            <a:off x="548640" y="1280160"/>
            <a:ext cx="354573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5" name="icon_bg_192"/>
          <p:cNvSpPr/>
          <p:nvPr/>
        </p:nvSpPr>
        <p:spPr>
          <a:xfrm>
            <a:off x="777240" y="14813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_19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1617391"/>
            <a:ext cx="294803" cy="294803"/>
          </a:xfrm>
          <a:prstGeom prst="rect">
            <a:avLst/>
          </a:prstGeom>
        </p:spPr>
      </p:pic>
      <p:sp>
        <p:nvSpPr>
          <p:cNvPr id="7" name="text_194"/>
          <p:cNvSpPr txBox="1"/>
          <p:nvPr/>
        </p:nvSpPr>
        <p:spPr>
          <a:xfrm>
            <a:off x="1508760" y="1572768"/>
            <a:ext cx="2402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 эксперимента</a:t>
            </a:r>
            <a:endParaRPr lang="en-US" sz="1600" dirty="0"/>
          </a:p>
        </p:txBody>
      </p:sp>
      <p:sp>
        <p:nvSpPr>
          <p:cNvPr id="8" name="text_195"/>
          <p:cNvSpPr txBox="1"/>
          <p:nvPr/>
        </p:nvSpPr>
        <p:spPr>
          <a:xfrm>
            <a:off x="777240" y="2194560"/>
            <a:ext cx="308853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гипотеза: формулировка, проверка, доказательства, статус. Это протокол, который читает человек и LLM</a:t>
            </a:r>
            <a:endParaRPr lang="en-US" sz="1300" dirty="0"/>
          </a:p>
        </p:txBody>
      </p:sp>
      <p:sp>
        <p:nvSpPr>
          <p:cNvPr id="9" name="arrow_196"/>
          <p:cNvSpPr/>
          <p:nvPr/>
        </p:nvSpPr>
        <p:spPr>
          <a:xfrm>
            <a:off x="4112666" y="2423160"/>
            <a:ext cx="192024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10" name="card_197"/>
          <p:cNvSpPr/>
          <p:nvPr/>
        </p:nvSpPr>
        <p:spPr>
          <a:xfrm>
            <a:off x="4322978" y="1280160"/>
            <a:ext cx="354573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1" name="icon_bg_198"/>
          <p:cNvSpPr/>
          <p:nvPr/>
        </p:nvSpPr>
        <p:spPr>
          <a:xfrm>
            <a:off x="4551578" y="148132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_19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641" y="1617391"/>
            <a:ext cx="294803" cy="294803"/>
          </a:xfrm>
          <a:prstGeom prst="rect">
            <a:avLst/>
          </a:prstGeom>
        </p:spPr>
      </p:pic>
      <p:sp>
        <p:nvSpPr>
          <p:cNvPr id="13" name="text_200"/>
          <p:cNvSpPr txBox="1"/>
          <p:nvPr/>
        </p:nvSpPr>
        <p:spPr>
          <a:xfrm>
            <a:off x="5283098" y="1572768"/>
            <a:ext cx="2402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знаний</a:t>
            </a:r>
            <a:endParaRPr lang="en-US" sz="1600" dirty="0"/>
          </a:p>
        </p:txBody>
      </p:sp>
      <p:sp>
        <p:nvSpPr>
          <p:cNvPr id="14" name="text_201"/>
          <p:cNvSpPr txBox="1"/>
          <p:nvPr/>
        </p:nvSpPr>
        <p:spPr>
          <a:xfrm>
            <a:off x="4551578" y="2194560"/>
            <a:ext cx="308853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миссии - knowledge.json: расход пола по клеткам, опасные зоны. Следующая миссия начинает с них как с гипотез</a:t>
            </a:r>
            <a:endParaRPr lang="en-US" sz="1300" dirty="0"/>
          </a:p>
        </p:txBody>
      </p:sp>
      <p:sp>
        <p:nvSpPr>
          <p:cNvPr id="15" name="arrow_202"/>
          <p:cNvSpPr/>
          <p:nvPr/>
        </p:nvSpPr>
        <p:spPr>
          <a:xfrm>
            <a:off x="7887005" y="2423160"/>
            <a:ext cx="192024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16" name="card_203"/>
          <p:cNvSpPr/>
          <p:nvPr/>
        </p:nvSpPr>
        <p:spPr>
          <a:xfrm>
            <a:off x="8097317" y="1280160"/>
            <a:ext cx="354573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7" name="icon_bg_204"/>
          <p:cNvSpPr/>
          <p:nvPr/>
        </p:nvSpPr>
        <p:spPr>
          <a:xfrm>
            <a:off x="8325917" y="1481328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con_20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980" y="1617391"/>
            <a:ext cx="294803" cy="294803"/>
          </a:xfrm>
          <a:prstGeom prst="rect">
            <a:avLst/>
          </a:prstGeom>
        </p:spPr>
      </p:pic>
      <p:sp>
        <p:nvSpPr>
          <p:cNvPr id="19" name="text_206"/>
          <p:cNvSpPr txBox="1"/>
          <p:nvPr/>
        </p:nvSpPr>
        <p:spPr>
          <a:xfrm>
            <a:off x="9057437" y="1572768"/>
            <a:ext cx="2402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Повторное использование</a:t>
            </a:r>
            <a:endParaRPr lang="en-US" sz="1600" dirty="0"/>
          </a:p>
        </p:txBody>
      </p:sp>
      <p:sp>
        <p:nvSpPr>
          <p:cNvPr id="20" name="text_207"/>
          <p:cNvSpPr txBox="1"/>
          <p:nvPr/>
        </p:nvSpPr>
        <p:spPr>
          <a:xfrm>
            <a:off x="8325917" y="2194560"/>
            <a:ext cx="308853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знание не теряется между запусками: H2 - счёт выше (p = 0,003), штрафов в 2,5 раза меньше</a:t>
            </a:r>
            <a:endParaRPr lang="en-US" sz="1300" dirty="0"/>
          </a:p>
        </p:txBody>
      </p:sp>
      <p:sp>
        <p:nvSpPr>
          <p:cNvPr id="21" name="vision_208"/>
          <p:cNvSpPr/>
          <p:nvPr/>
        </p:nvSpPr>
        <p:spPr>
          <a:xfrm>
            <a:off x="548640" y="3840480"/>
            <a:ext cx="11094415" cy="2240280"/>
          </a:xfrm>
          <a:prstGeom prst="roundRect">
            <a:avLst>
              <a:gd name="adj" fmla="val 3265"/>
            </a:avLst>
          </a:prstGeom>
          <a:solidFill>
            <a:schemeClr val="tx1"/>
          </a:solidFill>
          <a:ln/>
        </p:spPr>
      </p:sp>
      <p:sp>
        <p:nvSpPr>
          <p:cNvPr id="22" name="text_209"/>
          <p:cNvSpPr txBox="1"/>
          <p:nvPr/>
        </p:nvSpPr>
        <p:spPr>
          <a:xfrm>
            <a:off x="868680" y="3977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это применимо</a:t>
            </a:r>
            <a:endParaRPr lang="en-US" sz="1700" dirty="0"/>
          </a:p>
        </p:txBody>
      </p:sp>
      <p:sp>
        <p:nvSpPr>
          <p:cNvPr id="23" name="text_210"/>
          <p:cNvSpPr txBox="1"/>
          <p:nvPr/>
        </p:nvSpPr>
        <p:spPr>
          <a:xfrm>
            <a:off x="868680" y="4434840"/>
            <a:ext cx="104543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Лаборатория: робот ставит серию опытов сам, журнал - готовый протокол с доказательствами</a:t>
            </a:r>
            <a:endParaRPr lang="en-US" sz="14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Образование: студент повторяет эксперимент по seed и журналу, меняет гипотезу - получает новые данные</a:t>
            </a:r>
            <a:endParaRPr lang="en-US" sz="14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Полевые роботы: карта «цены» местности копится от миссии к миссии и переходит к следующему роботу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Ресурсы и инструменты</a:t>
            </a:r>
            <a:endParaRPr lang="en-US" sz="3000" dirty="0"/>
          </a:p>
        </p:txBody>
      </p:sp>
      <p:sp>
        <p:nvSpPr>
          <p:cNvPr id="3" name="tracker_21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  ·   </a:t>
            </a:r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  ·   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050" dirty="0"/>
          </a:p>
        </p:txBody>
      </p:sp>
      <p:sp>
        <p:nvSpPr>
          <p:cNvPr id="4" name="card_213"/>
          <p:cNvSpPr/>
          <p:nvPr/>
        </p:nvSpPr>
        <p:spPr>
          <a:xfrm>
            <a:off x="548640" y="1280160"/>
            <a:ext cx="3545738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5" name="icon_bg_214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_21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640434"/>
            <a:ext cx="285293" cy="285293"/>
          </a:xfrm>
          <a:prstGeom prst="rect">
            <a:avLst/>
          </a:prstGeom>
        </p:spPr>
      </p:pic>
      <p:sp>
        <p:nvSpPr>
          <p:cNvPr id="7" name="text_216"/>
          <p:cNvSpPr txBox="1"/>
          <p:nvPr/>
        </p:nvSpPr>
        <p:spPr>
          <a:xfrm>
            <a:off x="1463040" y="1600200"/>
            <a:ext cx="2448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</a:t>
            </a:r>
            <a:endParaRPr lang="en-US" sz="1600" dirty="0"/>
          </a:p>
        </p:txBody>
      </p:sp>
      <p:sp>
        <p:nvSpPr>
          <p:cNvPr id="8" name="text_217"/>
          <p:cNvSpPr txBox="1"/>
          <p:nvPr/>
        </p:nvSpPr>
        <p:spPr>
          <a:xfrm>
            <a:off x="777240" y="2194560"/>
            <a:ext cx="3134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Jazzy, Gazebo Harmonic, TurtleBot3, RViz2 - официальные пакеты</a:t>
            </a:r>
            <a:endParaRPr lang="en-US" sz="1250" dirty="0"/>
          </a:p>
        </p:txBody>
      </p:sp>
      <p:sp>
        <p:nvSpPr>
          <p:cNvPr id="9" name="card_218"/>
          <p:cNvSpPr/>
          <p:nvPr/>
        </p:nvSpPr>
        <p:spPr>
          <a:xfrm>
            <a:off x="4322978" y="1280160"/>
            <a:ext cx="3545738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0" name="icon_bg_219"/>
          <p:cNvSpPr/>
          <p:nvPr/>
        </p:nvSpPr>
        <p:spPr>
          <a:xfrm>
            <a:off x="4551578" y="150876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con_22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252" y="1640434"/>
            <a:ext cx="285293" cy="285293"/>
          </a:xfrm>
          <a:prstGeom prst="rect">
            <a:avLst/>
          </a:prstGeom>
        </p:spPr>
      </p:pic>
      <p:sp>
        <p:nvSpPr>
          <p:cNvPr id="12" name="text_221"/>
          <p:cNvSpPr txBox="1"/>
          <p:nvPr/>
        </p:nvSpPr>
        <p:spPr>
          <a:xfrm>
            <a:off x="5237378" y="1600200"/>
            <a:ext cx="2448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код</a:t>
            </a:r>
            <a:endParaRPr lang="en-US" sz="1600" dirty="0"/>
          </a:p>
        </p:txBody>
      </p:sp>
      <p:sp>
        <p:nvSpPr>
          <p:cNvPr id="13" name="text_222"/>
          <p:cNvSpPr txBox="1"/>
          <p:nvPr/>
        </p:nvSpPr>
        <p:spPr>
          <a:xfrm>
            <a:off x="4551578" y="2194560"/>
            <a:ext cx="3134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numpy; 132 автотеста; офлайн-симулятор; веб-пульт; генератор сценариев</a:t>
            </a:r>
            <a:endParaRPr lang="en-US" sz="1250" dirty="0"/>
          </a:p>
        </p:txBody>
      </p:sp>
      <p:sp>
        <p:nvSpPr>
          <p:cNvPr id="14" name="card_223"/>
          <p:cNvSpPr/>
          <p:nvPr/>
        </p:nvSpPr>
        <p:spPr>
          <a:xfrm>
            <a:off x="8097317" y="1280160"/>
            <a:ext cx="3545738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5" name="icon_bg_224"/>
          <p:cNvSpPr/>
          <p:nvPr/>
        </p:nvSpPr>
        <p:spPr>
          <a:xfrm>
            <a:off x="8325917" y="15087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con_22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590" y="1640434"/>
            <a:ext cx="285293" cy="285293"/>
          </a:xfrm>
          <a:prstGeom prst="rect">
            <a:avLst/>
          </a:prstGeom>
        </p:spPr>
      </p:pic>
      <p:sp>
        <p:nvSpPr>
          <p:cNvPr id="17" name="text_226"/>
          <p:cNvSpPr txBox="1"/>
          <p:nvPr/>
        </p:nvSpPr>
        <p:spPr>
          <a:xfrm>
            <a:off x="9011717" y="1600200"/>
            <a:ext cx="2448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ИИ-сервисы</a:t>
            </a:r>
            <a:endParaRPr lang="en-US" sz="1600" dirty="0"/>
          </a:p>
        </p:txBody>
      </p:sp>
      <p:sp>
        <p:nvSpPr>
          <p:cNvPr id="18" name="text_227"/>
          <p:cNvSpPr txBox="1"/>
          <p:nvPr/>
        </p:nvSpPr>
        <p:spPr>
          <a:xfrm>
            <a:off x="8325917" y="2194560"/>
            <a:ext cx="3134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V4.1 Flash (ai.mai.ru) - выбрана из 6 моделей; Claude Code - ассистент разработки</a:t>
            </a:r>
            <a:endParaRPr lang="en-US" sz="1250" dirty="0"/>
          </a:p>
        </p:txBody>
      </p:sp>
      <p:sp>
        <p:nvSpPr>
          <p:cNvPr id="19" name="card_228"/>
          <p:cNvSpPr/>
          <p:nvPr/>
        </p:nvSpPr>
        <p:spPr>
          <a:xfrm>
            <a:off x="548640" y="3291840"/>
            <a:ext cx="3545738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20" name="icon_bg_229"/>
          <p:cNvSpPr/>
          <p:nvPr/>
        </p:nvSpPr>
        <p:spPr>
          <a:xfrm>
            <a:off x="777240" y="35204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con_23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3652114"/>
            <a:ext cx="285293" cy="285293"/>
          </a:xfrm>
          <a:prstGeom prst="rect">
            <a:avLst/>
          </a:prstGeom>
        </p:spPr>
      </p:pic>
      <p:sp>
        <p:nvSpPr>
          <p:cNvPr id="22" name="text_231"/>
          <p:cNvSpPr txBox="1"/>
          <p:nvPr/>
        </p:nvSpPr>
        <p:spPr>
          <a:xfrm>
            <a:off x="1463040" y="3611880"/>
            <a:ext cx="2448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Вычисления</a:t>
            </a:r>
            <a:endParaRPr lang="en-US" sz="1600" dirty="0"/>
          </a:p>
        </p:txBody>
      </p:sp>
      <p:sp>
        <p:nvSpPr>
          <p:cNvPr id="23" name="text_232"/>
          <p:cNvSpPr txBox="1"/>
          <p:nvPr/>
        </p:nvSpPr>
        <p:spPr>
          <a:xfrm>
            <a:off x="777240" y="4206240"/>
            <a:ext cx="3134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ноутбук, Windows 11 + WSL2 (Ubuntu 24.04), без GPU; 1 000+ офлайн-миссий за минуты на 16 ядрах</a:t>
            </a:r>
            <a:endParaRPr lang="en-US" sz="1250" dirty="0"/>
          </a:p>
        </p:txBody>
      </p:sp>
      <p:sp>
        <p:nvSpPr>
          <p:cNvPr id="24" name="card_233"/>
          <p:cNvSpPr/>
          <p:nvPr/>
        </p:nvSpPr>
        <p:spPr>
          <a:xfrm>
            <a:off x="4322978" y="3291840"/>
            <a:ext cx="3545738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25" name="icon_bg_234"/>
          <p:cNvSpPr/>
          <p:nvPr/>
        </p:nvSpPr>
        <p:spPr>
          <a:xfrm>
            <a:off x="4551578" y="3520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_23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3252" y="3652114"/>
            <a:ext cx="285293" cy="285293"/>
          </a:xfrm>
          <a:prstGeom prst="rect">
            <a:avLst/>
          </a:prstGeom>
        </p:spPr>
      </p:pic>
      <p:sp>
        <p:nvSpPr>
          <p:cNvPr id="27" name="text_236"/>
          <p:cNvSpPr txBox="1"/>
          <p:nvPr/>
        </p:nvSpPr>
        <p:spPr>
          <a:xfrm>
            <a:off x="5237378" y="3611880"/>
            <a:ext cx="2448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600" dirty="0"/>
          </a:p>
        </p:txBody>
      </p:sp>
      <p:sp>
        <p:nvSpPr>
          <p:cNvPr id="28" name="text_237"/>
          <p:cNvSpPr txBox="1"/>
          <p:nvPr/>
        </p:nvSpPr>
        <p:spPr>
          <a:xfrm>
            <a:off x="4551578" y="4206240"/>
            <a:ext cx="3134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turtlebot3_navigation2; сценарии по seed; журналы и базы знаний всех прогонов</a:t>
            </a:r>
            <a:endParaRPr lang="en-US" sz="1250" dirty="0"/>
          </a:p>
        </p:txBody>
      </p:sp>
      <p:sp>
        <p:nvSpPr>
          <p:cNvPr id="29" name="card_238"/>
          <p:cNvSpPr/>
          <p:nvPr/>
        </p:nvSpPr>
        <p:spPr>
          <a:xfrm>
            <a:off x="8097317" y="3291840"/>
            <a:ext cx="3545738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30" name="icon_bg_239"/>
          <p:cNvSpPr/>
          <p:nvPr/>
        </p:nvSpPr>
        <p:spPr>
          <a:xfrm>
            <a:off x="8325917" y="35204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icon_24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7590" y="3652114"/>
            <a:ext cx="285293" cy="285293"/>
          </a:xfrm>
          <a:prstGeom prst="rect">
            <a:avLst/>
          </a:prstGeom>
        </p:spPr>
      </p:pic>
      <p:sp>
        <p:nvSpPr>
          <p:cNvPr id="32" name="text_241"/>
          <p:cNvSpPr txBox="1"/>
          <p:nvPr/>
        </p:nvSpPr>
        <p:spPr>
          <a:xfrm>
            <a:off x="9011717" y="3611880"/>
            <a:ext cx="2448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Ассистент и скиллы</a:t>
            </a:r>
            <a:endParaRPr lang="en-US" sz="1600" dirty="0"/>
          </a:p>
        </p:txBody>
      </p:sp>
      <p:sp>
        <p:nvSpPr>
          <p:cNvPr id="33" name="text_242"/>
          <p:cNvSpPr txBox="1"/>
          <p:nvPr/>
        </p:nvSpPr>
        <p:spPr>
          <a:xfrm>
            <a:off x="8325917" y="4206240"/>
            <a:ext cx="3134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своих скилла: прогон в Gazebo с доказательством, эксперимент с критерием, безопасный коммит</a:t>
            </a:r>
            <a:endParaRPr lang="en-US" sz="1250" dirty="0"/>
          </a:p>
        </p:txBody>
      </p:sp>
      <p:sp>
        <p:nvSpPr>
          <p:cNvPr id="34" name="text_243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дня · 30+ коммитов · 132 автотеста · журнал разработки DEVLOG · 14 вопросов организаторам · запуск одной командой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сделано и что дальше</a:t>
            </a:r>
            <a:endParaRPr lang="en-US" sz="3000" dirty="0"/>
          </a:p>
        </p:txBody>
      </p:sp>
      <p:sp>
        <p:nvSpPr>
          <p:cNvPr id="3" name="tracker_24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  ·   </a:t>
            </a:r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  ·   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050" dirty="0"/>
          </a:p>
        </p:txBody>
      </p:sp>
      <p:sp>
        <p:nvSpPr>
          <p:cNvPr id="4" name="card_246"/>
          <p:cNvSpPr/>
          <p:nvPr/>
        </p:nvSpPr>
        <p:spPr>
          <a:xfrm>
            <a:off x="548640" y="1325880"/>
            <a:ext cx="5410048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/>
        </p:spPr>
      </p:sp>
      <p:sp>
        <p:nvSpPr>
          <p:cNvPr id="5" name="icon_bg_247"/>
          <p:cNvSpPr/>
          <p:nvPr/>
        </p:nvSpPr>
        <p:spPr>
          <a:xfrm>
            <a:off x="822960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_24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697126"/>
            <a:ext cx="309067" cy="309067"/>
          </a:xfrm>
          <a:prstGeom prst="rect">
            <a:avLst/>
          </a:prstGeom>
        </p:spPr>
      </p:pic>
      <p:sp>
        <p:nvSpPr>
          <p:cNvPr id="7" name="text_249"/>
          <p:cNvSpPr txBox="1"/>
          <p:nvPr/>
        </p:nvSpPr>
        <p:spPr>
          <a:xfrm>
            <a:off x="1600200" y="1664208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Сделано - уровни 0–4</a:t>
            </a:r>
            <a:endParaRPr lang="en-US" sz="1900" dirty="0"/>
          </a:p>
        </p:txBody>
      </p:sp>
      <p:sp>
        <p:nvSpPr>
          <p:cNvPr id="8" name="text_250"/>
          <p:cNvSpPr txBox="1"/>
          <p:nvPr/>
        </p:nvSpPr>
        <p:spPr>
          <a:xfrm>
            <a:off x="822960" y="2468880"/>
            <a:ext cx="486140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одной командой, свой судья и генератор сценариев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Навигация: карта стоимостей, A*, регулятор, IMU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планировщик (ур. 2) и научный руководитель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датчику, цена грунтов, журнал гипотез (ур. 3)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в hard и база знаний между миссиями (ур. 4)</a:t>
            </a:r>
            <a:endParaRPr lang="en-US" sz="1500" dirty="0"/>
          </a:p>
        </p:txBody>
      </p:sp>
      <p:sp>
        <p:nvSpPr>
          <p:cNvPr id="9" name="card_251"/>
          <p:cNvSpPr/>
          <p:nvPr/>
        </p:nvSpPr>
        <p:spPr>
          <a:xfrm>
            <a:off x="6233008" y="1325880"/>
            <a:ext cx="5410048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/>
        </p:spPr>
      </p:sp>
      <p:sp>
        <p:nvSpPr>
          <p:cNvPr id="10" name="icon_bg_252"/>
          <p:cNvSpPr/>
          <p:nvPr/>
        </p:nvSpPr>
        <p:spPr>
          <a:xfrm>
            <a:off x="6507328" y="15544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_25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974" y="1697126"/>
            <a:ext cx="309067" cy="309067"/>
          </a:xfrm>
          <a:prstGeom prst="rect">
            <a:avLst/>
          </a:prstGeom>
        </p:spPr>
      </p:pic>
      <p:sp>
        <p:nvSpPr>
          <p:cNvPr id="12" name="text_254"/>
          <p:cNvSpPr txBox="1"/>
          <p:nvPr/>
        </p:nvSpPr>
        <p:spPr>
          <a:xfrm>
            <a:off x="7284568" y="1664208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</a:t>
            </a:r>
            <a:endParaRPr lang="en-US" sz="1900" dirty="0"/>
          </a:p>
        </p:txBody>
      </p:sp>
      <p:sp>
        <p:nvSpPr>
          <p:cNvPr id="13" name="text_255"/>
          <p:cNvSpPr txBox="1"/>
          <p:nvPr/>
        </p:nvSpPr>
        <p:spPr>
          <a:xfrm>
            <a:off x="6507328" y="2468880"/>
            <a:ext cx="486140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вместо готовой карты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робота с общей базой знаний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H1 с ранней разведкой зон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на реальный TurtleBot3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Спасибо! Готовы к вопросам</a:t>
            </a:r>
            <a:endParaRPr lang="en-US" sz="4000" dirty="0"/>
          </a:p>
        </p:txBody>
      </p:sp>
      <p:sp>
        <p:nvSpPr>
          <p:cNvPr id="3" name="text_256">
            <a:hlinkClick r:id="rId1" tooltip=""/>
          </p:cNvPr>
          <p:cNvSpPr txBox="1"/>
          <p:nvPr/>
        </p:nvSpPr>
        <p:spPr>
          <a:xfrm>
            <a:off x="548640" y="3931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u="sng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github.com/TwoToTango123/innopolis-agent-turtle</a:t>
            </a:r>
            <a:endParaRPr lang="en-US" sz="1800" dirty="0"/>
          </a:p>
        </p:txBody>
      </p:sp>
      <p:sp>
        <p:nvSpPr>
          <p:cNvPr id="4" name="text_257"/>
          <p:cNvSpPr txBox="1"/>
          <p:nvPr/>
        </p:nvSpPr>
        <p:spPr>
          <a:xfrm>
            <a:off x="548640" y="43891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Код, журналы экспериментов, DEVLOG, скиллы ассистента</a:t>
            </a:r>
            <a:endParaRPr lang="en-US" sz="1400" dirty="0"/>
          </a:p>
        </p:txBody>
      </p:sp>
      <p:sp>
        <p:nvSpPr>
          <p:cNvPr id="5" name="icon_bg_258"/>
          <p:cNvSpPr/>
          <p:nvPr/>
        </p:nvSpPr>
        <p:spPr>
          <a:xfrm>
            <a:off x="7406640" y="15544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_25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178" y="1741018"/>
            <a:ext cx="404165" cy="404165"/>
          </a:xfrm>
          <a:prstGeom prst="rect">
            <a:avLst/>
          </a:prstGeom>
        </p:spPr>
      </p:pic>
      <p:sp>
        <p:nvSpPr>
          <p:cNvPr id="7" name="text_260"/>
          <p:cNvSpPr txBox="1"/>
          <p:nvPr/>
        </p:nvSpPr>
        <p:spPr>
          <a:xfrm>
            <a:off x="841248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Лобачев Андрей</a:t>
            </a:r>
            <a:endParaRPr lang="en-US" sz="1800" dirty="0"/>
          </a:p>
        </p:txBody>
      </p:sp>
      <p:sp>
        <p:nvSpPr>
          <p:cNvPr id="8" name="text_261"/>
          <p:cNvSpPr txBox="1"/>
          <p:nvPr/>
        </p:nvSpPr>
        <p:spPr>
          <a:xfrm>
            <a:off x="841248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задача, функция, гипотезы</a:t>
            </a:r>
            <a:endParaRPr lang="en-US" sz="1400" dirty="0"/>
          </a:p>
        </p:txBody>
      </p:sp>
      <p:sp>
        <p:nvSpPr>
          <p:cNvPr id="9" name="icon_bg_262"/>
          <p:cNvSpPr/>
          <p:nvPr/>
        </p:nvSpPr>
        <p:spPr>
          <a:xfrm>
            <a:off x="7406640" y="28803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_26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178" y="3066898"/>
            <a:ext cx="404165" cy="404165"/>
          </a:xfrm>
          <a:prstGeom prst="rect">
            <a:avLst/>
          </a:prstGeom>
        </p:spPr>
      </p:pic>
      <p:sp>
        <p:nvSpPr>
          <p:cNvPr id="11" name="text_264"/>
          <p:cNvSpPr txBox="1"/>
          <p:nvPr/>
        </p:nvSpPr>
        <p:spPr>
          <a:xfrm>
            <a:off x="841248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Илья Жензиров</a:t>
            </a:r>
            <a:endParaRPr lang="en-US" sz="1800" dirty="0"/>
          </a:p>
        </p:txBody>
      </p:sp>
      <p:sp>
        <p:nvSpPr>
          <p:cNvPr id="12" name="text_265"/>
          <p:cNvSpPr txBox="1"/>
          <p:nvPr/>
        </p:nvSpPr>
        <p:spPr>
          <a:xfrm>
            <a:off x="841248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архитектура, движение, демо</a:t>
            </a:r>
            <a:endParaRPr lang="en-US" sz="1400" dirty="0"/>
          </a:p>
        </p:txBody>
      </p:sp>
      <p:sp>
        <p:nvSpPr>
          <p:cNvPr id="13" name="icon_bg_266"/>
          <p:cNvSpPr/>
          <p:nvPr/>
        </p:nvSpPr>
        <p:spPr>
          <a:xfrm>
            <a:off x="7406640" y="420624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4" name="icon_26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178" y="4392778"/>
            <a:ext cx="404165" cy="404165"/>
          </a:xfrm>
          <a:prstGeom prst="rect">
            <a:avLst/>
          </a:prstGeom>
        </p:spPr>
      </p:pic>
      <p:sp>
        <p:nvSpPr>
          <p:cNvPr id="15" name="text_268"/>
          <p:cNvSpPr txBox="1"/>
          <p:nvPr/>
        </p:nvSpPr>
        <p:spPr>
          <a:xfrm>
            <a:off x="8412480" y="4251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Смирнов Константин</a:t>
            </a:r>
            <a:endParaRPr lang="en-US" sz="1800" dirty="0"/>
          </a:p>
        </p:txBody>
      </p:sp>
      <p:sp>
        <p:nvSpPr>
          <p:cNvPr id="16" name="text_269"/>
          <p:cNvSpPr txBox="1"/>
          <p:nvPr/>
        </p:nvSpPr>
        <p:spPr>
          <a:xfrm>
            <a:off x="841248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агент, LLM, результаты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Приложение: эксперименты H1 и H2 полностью</a:t>
            </a:r>
            <a:endParaRPr lang="en-US" sz="3000" dirty="0"/>
          </a:p>
        </p:txBody>
      </p:sp>
      <p:sp>
        <p:nvSpPr>
          <p:cNvPr id="3" name="text_270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вопросов</a:t>
            </a:r>
            <a:endParaRPr lang="en-US" sz="1050" dirty="0"/>
          </a:p>
        </p:txBody>
      </p:sp>
      <p:graphicFrame>
        <p:nvGraphicFramePr>
          <p:cNvPr id="15" name="exp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766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1005840"/>
                <a:gridCol w="100584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· заряд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агент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образцы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штрафы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счёт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· 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кратчайший путь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· 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учит грунты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· 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K: + база знаний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· 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кратчайший путь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· 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учит грунты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· 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K: + база знаний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· 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кратчайший путь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· 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учит грунты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· 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K: + база знаний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card_271"/>
          <p:cNvSpPr/>
          <p:nvPr/>
        </p:nvSpPr>
        <p:spPr>
          <a:xfrm>
            <a:off x="7589520" y="1234440"/>
            <a:ext cx="4053535" cy="4114800"/>
          </a:xfrm>
          <a:prstGeom prst="roundRect">
            <a:avLst>
              <a:gd name="adj" fmla="val 1805"/>
            </a:avLst>
          </a:prstGeom>
          <a:solidFill>
            <a:schemeClr val="bg2"/>
          </a:solidFill>
          <a:ln/>
        </p:spPr>
      </p:sp>
      <p:sp>
        <p:nvSpPr>
          <p:cNvPr id="6" name="text_272"/>
          <p:cNvSpPr txBox="1"/>
          <p:nvPr/>
        </p:nvSpPr>
        <p:spPr>
          <a:xfrm>
            <a:off x="78181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считали</a:t>
            </a:r>
            <a:endParaRPr lang="en-US" sz="1600" dirty="0"/>
          </a:p>
        </p:txBody>
      </p:sp>
      <p:sp>
        <p:nvSpPr>
          <p:cNvPr id="7" name="text_273"/>
          <p:cNvSpPr txBox="1"/>
          <p:nvPr/>
        </p:nvSpPr>
        <p:spPr>
          <a:xfrm>
            <a:off x="7818120" y="1828800"/>
            <a:ext cx="355061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seed на уровень, те же сценарии для A, B, K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офлайн: тот же судья, карта, A*, планировщик; кинематика вместо Gazebo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знаковый критерий по парам, односторонний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заряде 60 все варианты собирают ~100 % - эффект виден только при нехватке заряда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scripts/science_batch.py, sign_test.py, docs/EXPERIMENTS.md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Приложение: почему LLM не считает геометрию</a:t>
            </a:r>
            <a:endParaRPr lang="en-US" sz="3000" dirty="0"/>
          </a:p>
        </p:txBody>
      </p:sp>
      <p:sp>
        <p:nvSpPr>
          <p:cNvPr id="3" name="text_27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вопросов</a:t>
            </a:r>
            <a:endParaRPr lang="en-US" sz="1050" dirty="0"/>
          </a:p>
        </p:txBody>
      </p:sp>
      <p:sp>
        <p:nvSpPr>
          <p:cNvPr id="4" name="card_275"/>
          <p:cNvSpPr/>
          <p:nvPr/>
        </p:nvSpPr>
        <p:spPr>
          <a:xfrm>
            <a:off x="548640" y="1280160"/>
            <a:ext cx="5410048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5" name="text_276"/>
          <p:cNvSpPr txBox="1"/>
          <p:nvPr/>
        </p:nvSpPr>
        <p:spPr>
          <a:xfrm>
            <a:off x="822960" y="141732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считает геометрию сама</a:t>
            </a:r>
            <a:endParaRPr lang="en-US" sz="1700" dirty="0"/>
          </a:p>
        </p:txBody>
      </p:sp>
      <p:sp>
        <p:nvSpPr>
          <p:cNvPr id="6" name="text_277"/>
          <p:cNvSpPr txBox="1"/>
          <p:nvPr/>
        </p:nvSpPr>
        <p:spPr>
          <a:xfrm>
            <a:off x="822960" y="187452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из 6</a:t>
            </a:r>
            <a:pPr indent="0" marL="0">
              <a:buNone/>
            </a:pPr>
            <a:r>
              <a:rPr lang="en-US" sz="3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из 6</a:t>
            </a:r>
            <a:endParaRPr lang="en-US" sz="3400" dirty="0"/>
          </a:p>
        </p:txBody>
      </p:sp>
      <p:sp>
        <p:nvSpPr>
          <p:cNvPr id="7" name="text_278"/>
          <p:cNvSpPr txBox="1"/>
          <p:nvPr/>
        </p:nvSpPr>
        <p:spPr>
          <a:xfrm>
            <a:off x="822960" y="260604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моделей дали ответ</a:t>
            </a:r>
            <a:endParaRPr lang="en-US" sz="1300" dirty="0"/>
          </a:p>
        </p:txBody>
      </p:sp>
      <p:sp>
        <p:nvSpPr>
          <p:cNvPr id="8" name="text_279"/>
          <p:cNvSpPr txBox="1"/>
          <p:nvPr/>
        </p:nvSpPr>
        <p:spPr>
          <a:xfrm>
            <a:off x="822960" y="297180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координаты и «обойди зону» → 37–77 с рассуждений без ответа; таблица расходов от A* → JSON за 5–7 с</a:t>
            </a:r>
            <a:endParaRPr lang="en-US" sz="1300" dirty="0"/>
          </a:p>
        </p:txBody>
      </p:sp>
      <p:sp>
        <p:nvSpPr>
          <p:cNvPr id="9" name="card_280"/>
          <p:cNvSpPr/>
          <p:nvPr/>
        </p:nvSpPr>
        <p:spPr>
          <a:xfrm>
            <a:off x="6233008" y="1280160"/>
            <a:ext cx="5410048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10" name="text_281"/>
          <p:cNvSpPr txBox="1"/>
          <p:nvPr/>
        </p:nvSpPr>
        <p:spPr>
          <a:xfrm>
            <a:off x="6507328" y="141732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перебирает комбинации</a:t>
            </a:r>
            <a:endParaRPr lang="en-US" sz="1700" dirty="0"/>
          </a:p>
        </p:txBody>
      </p:sp>
      <p:sp>
        <p:nvSpPr>
          <p:cNvPr id="11" name="text_282"/>
          <p:cNvSpPr txBox="1"/>
          <p:nvPr/>
        </p:nvSpPr>
        <p:spPr>
          <a:xfrm>
            <a:off x="6507328" y="187452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30 с</a:t>
            </a:r>
            <a:pPr indent="0" marL="0">
              <a:buNone/>
            </a:pPr>
            <a:r>
              <a:rPr lang="en-US" sz="3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 с</a:t>
            </a:r>
            <a:endParaRPr lang="en-US" sz="3400" dirty="0"/>
          </a:p>
        </p:txBody>
      </p:sp>
      <p:sp>
        <p:nvSpPr>
          <p:cNvPr id="12" name="text_283"/>
          <p:cNvSpPr txBox="1"/>
          <p:nvPr/>
        </p:nvSpPr>
        <p:spPr>
          <a:xfrm>
            <a:off x="6507328" y="260604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решение при заряде 10</a:t>
            </a:r>
            <a:endParaRPr lang="en-US" sz="1300" dirty="0"/>
          </a:p>
        </p:txBody>
      </p:sp>
      <p:sp>
        <p:nvSpPr>
          <p:cNvPr id="13" name="text_284"/>
          <p:cNvSpPr txBox="1"/>
          <p:nvPr/>
        </p:nvSpPr>
        <p:spPr>
          <a:xfrm>
            <a:off x="6507328" y="297180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упиралась в лимит токенов; готовые варианты от алгоритма → 278 токенов и верный выбор</a:t>
            </a:r>
            <a:endParaRPr lang="en-US" sz="1300" dirty="0"/>
          </a:p>
        </p:txBody>
      </p:sp>
      <p:sp>
        <p:nvSpPr>
          <p:cNvPr id="14" name="llm_example_285"/>
          <p:cNvSpPr/>
          <p:nvPr/>
        </p:nvSpPr>
        <p:spPr>
          <a:xfrm>
            <a:off x="548640" y="4251960"/>
            <a:ext cx="11094415" cy="1783080"/>
          </a:xfrm>
          <a:prstGeom prst="roundRect">
            <a:avLst>
              <a:gd name="adj" fmla="val 4103"/>
            </a:avLst>
          </a:prstGeom>
          <a:solidFill>
            <a:schemeClr val="accent6"/>
          </a:solidFill>
          <a:ln/>
        </p:spPr>
      </p:sp>
      <p:sp>
        <p:nvSpPr>
          <p:cNvPr id="15" name="text_286"/>
          <p:cNvSpPr txBox="1"/>
          <p:nvPr/>
        </p:nvSpPr>
        <p:spPr>
          <a:xfrm>
            <a:off x="822960" y="4389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ответ LLM-советника (hard, заряд 30, после смены грунта):</a:t>
            </a:r>
            <a:endParaRPr lang="en-US" sz="1300" dirty="0"/>
          </a:p>
        </p:txBody>
      </p:sp>
      <p:sp>
        <p:nvSpPr>
          <p:cNvPr id="16" name="text_287"/>
          <p:cNvSpPr txBox="1"/>
          <p:nvPr/>
        </p:nvSpPr>
        <p:spPr>
          <a:xfrm>
            <a:off x="822960" y="4754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«R2 даёт лучший ожидаемый выход: около 2 образцов при низкой цене пути 1,5 и достаточном резерве на возврат 10,2. Изменение T2 уже учтено в пересчитанной карте»</a:t>
            </a:r>
            <a:endParaRPr lang="en-US" sz="1400" dirty="0"/>
          </a:p>
        </p:txBody>
      </p:sp>
      <p:sp>
        <p:nvSpPr>
          <p:cNvPr id="17" name="text_288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choice: R2 · гипотеза модели: «в северо-восточном секторе есть хотя бы один образец, достижимый без захода в T2 и H1»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Приложение: как мы использовали ИИ в разработке</a:t>
            </a:r>
            <a:endParaRPr lang="en-US" sz="3000" dirty="0"/>
          </a:p>
        </p:txBody>
      </p:sp>
      <p:sp>
        <p:nvSpPr>
          <p:cNvPr id="3" name="text_289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вопросов</a:t>
            </a:r>
            <a:endParaRPr lang="en-US" sz="1050" dirty="0"/>
          </a:p>
        </p:txBody>
      </p:sp>
      <p:sp>
        <p:nvSpPr>
          <p:cNvPr id="4" name="loop_step_290"/>
          <p:cNvSpPr/>
          <p:nvPr/>
        </p:nvSpPr>
        <p:spPr>
          <a:xfrm>
            <a:off x="548640" y="1325880"/>
            <a:ext cx="20574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/>
        </p:spPr>
      </p:sp>
      <p:sp>
        <p:nvSpPr>
          <p:cNvPr id="5" name="text_291"/>
          <p:cNvSpPr txBox="1"/>
          <p:nvPr/>
        </p:nvSpPr>
        <p:spPr>
          <a:xfrm>
            <a:off x="658368" y="132588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План и подтверждение</a:t>
            </a:r>
            <a:endParaRPr lang="en-US" sz="1400" dirty="0"/>
          </a:p>
        </p:txBody>
      </p:sp>
      <p:sp>
        <p:nvSpPr>
          <p:cNvPr id="6" name="loop_step_292"/>
          <p:cNvSpPr/>
          <p:nvPr/>
        </p:nvSpPr>
        <p:spPr>
          <a:xfrm>
            <a:off x="2798064" y="1325880"/>
            <a:ext cx="205740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</p:sp>
      <p:sp>
        <p:nvSpPr>
          <p:cNvPr id="7" name="text_293"/>
          <p:cNvSpPr txBox="1"/>
          <p:nvPr/>
        </p:nvSpPr>
        <p:spPr>
          <a:xfrm>
            <a:off x="2907792" y="132588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Маленький шаг</a:t>
            </a:r>
            <a:endParaRPr lang="en-US" sz="1400" dirty="0"/>
          </a:p>
        </p:txBody>
      </p:sp>
      <p:sp>
        <p:nvSpPr>
          <p:cNvPr id="8" name="loop_step_294"/>
          <p:cNvSpPr/>
          <p:nvPr/>
        </p:nvSpPr>
        <p:spPr>
          <a:xfrm>
            <a:off x="5047488" y="1325880"/>
            <a:ext cx="20574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/>
        </p:spPr>
      </p:sp>
      <p:sp>
        <p:nvSpPr>
          <p:cNvPr id="9" name="text_295"/>
          <p:cNvSpPr txBox="1"/>
          <p:nvPr/>
        </p:nvSpPr>
        <p:spPr>
          <a:xfrm>
            <a:off x="5157216" y="132588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Запуск и доказательство</a:t>
            </a:r>
            <a:endParaRPr lang="en-US" sz="1400" dirty="0"/>
          </a:p>
        </p:txBody>
      </p:sp>
      <p:sp>
        <p:nvSpPr>
          <p:cNvPr id="10" name="loop_step_296"/>
          <p:cNvSpPr/>
          <p:nvPr/>
        </p:nvSpPr>
        <p:spPr>
          <a:xfrm>
            <a:off x="7296912" y="1325880"/>
            <a:ext cx="205740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</p:sp>
      <p:sp>
        <p:nvSpPr>
          <p:cNvPr id="11" name="text_297"/>
          <p:cNvSpPr txBox="1"/>
          <p:nvPr/>
        </p:nvSpPr>
        <p:spPr>
          <a:xfrm>
            <a:off x="7406640" y="132588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Коммит</a:t>
            </a:r>
            <a:endParaRPr lang="en-US" sz="1400" dirty="0"/>
          </a:p>
        </p:txBody>
      </p:sp>
      <p:sp>
        <p:nvSpPr>
          <p:cNvPr id="12" name="loop_step_298"/>
          <p:cNvSpPr/>
          <p:nvPr/>
        </p:nvSpPr>
        <p:spPr>
          <a:xfrm>
            <a:off x="9546336" y="1325880"/>
            <a:ext cx="20574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/>
        </p:spPr>
      </p:sp>
      <p:sp>
        <p:nvSpPr>
          <p:cNvPr id="13" name="text_299"/>
          <p:cNvSpPr txBox="1"/>
          <p:nvPr/>
        </p:nvSpPr>
        <p:spPr>
          <a:xfrm>
            <a:off x="9656064" y="132588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Запись в DEVLOG</a:t>
            </a:r>
            <a:endParaRPr lang="en-US" sz="1400" dirty="0"/>
          </a:p>
        </p:txBody>
      </p:sp>
      <p:sp>
        <p:nvSpPr>
          <p:cNvPr id="14" name="card_300"/>
          <p:cNvSpPr/>
          <p:nvPr/>
        </p:nvSpPr>
        <p:spPr>
          <a:xfrm>
            <a:off x="548640" y="2286000"/>
            <a:ext cx="5486400" cy="374904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/>
        </p:spPr>
      </p:sp>
      <p:sp>
        <p:nvSpPr>
          <p:cNvPr id="15" name="icon_bg_301"/>
          <p:cNvSpPr/>
          <p:nvPr/>
        </p:nvSpPr>
        <p:spPr>
          <a:xfrm>
            <a:off x="822960" y="24688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con_30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600554"/>
            <a:ext cx="285293" cy="285293"/>
          </a:xfrm>
          <a:prstGeom prst="rect">
            <a:avLst/>
          </a:prstGeom>
        </p:spPr>
      </p:pic>
      <p:sp>
        <p:nvSpPr>
          <p:cNvPr id="17" name="text_303"/>
          <p:cNvSpPr txBox="1"/>
          <p:nvPr/>
        </p:nvSpPr>
        <p:spPr>
          <a:xfrm>
            <a:off x="1554480" y="25603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Ассистент нашёл и объяснил</a:t>
            </a:r>
            <a:endParaRPr lang="en-US" sz="1800" dirty="0"/>
          </a:p>
        </p:txBody>
      </p:sp>
      <p:sp>
        <p:nvSpPr>
          <p:cNvPr id="18" name="text_304"/>
          <p:cNvSpPr txBox="1"/>
          <p:nvPr/>
        </p:nvSpPr>
        <p:spPr>
          <a:xfrm>
            <a:off x="822960" y="3154680"/>
            <a:ext cx="4983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курса одометрии - сравнив с истинной позой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опасная зона как «стена» отрезала робота от базы - сделали её «дорогой»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numpy-тип ронял узел агента в Gazebo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 поймали разряд на пути домой при малом заряде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LLM «зависали»: геометрия и перебор в промпте</a:t>
            </a:r>
            <a:endParaRPr lang="en-US" sz="1400" dirty="0"/>
          </a:p>
        </p:txBody>
      </p:sp>
      <p:sp>
        <p:nvSpPr>
          <p:cNvPr id="19" name="card_305"/>
          <p:cNvSpPr/>
          <p:nvPr/>
        </p:nvSpPr>
        <p:spPr>
          <a:xfrm>
            <a:off x="6355080" y="2286000"/>
            <a:ext cx="5287975" cy="374904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/>
        </p:spPr>
      </p:sp>
      <p:sp>
        <p:nvSpPr>
          <p:cNvPr id="20" name="text_306"/>
          <p:cNvSpPr txBox="1"/>
          <p:nvPr/>
        </p:nvSpPr>
        <p:spPr>
          <a:xfrm>
            <a:off x="6629400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Скиллы и правила команды</a:t>
            </a:r>
            <a:endParaRPr lang="en-US" sz="1800" dirty="0"/>
          </a:p>
        </p:txBody>
      </p:sp>
      <p:sp>
        <p:nvSpPr>
          <p:cNvPr id="21" name="text_307"/>
          <p:cNvSpPr txBox="1"/>
          <p:nvPr/>
        </p:nvSpPr>
        <p:spPr>
          <a:xfrm>
            <a:off x="6629400" y="3017520"/>
            <a:ext cx="47850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did-gazebo-run: прогон без окна + выжимка журнала - доказательство вместо «вроде работает»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did-experiment: гипотеза → 90 пар → критерий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did-safe-commit: тесты, проверка ключа, DEVLOG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люди: архитектура, разрешения (sudo, публикация, ключ), смотрели глазами, находили недочёты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D Hack Lab">
  <a:themeElements>
    <a:clrScheme name="DID Hack Lab">
      <a:dk1>
        <a:srgbClr val="14202B"/>
      </a:dk1>
      <a:lt1>
        <a:srgbClr val="FFFFFF"/>
      </a:lt1>
      <a:dk2>
        <a:srgbClr val="22323F"/>
      </a:dk2>
      <a:lt2>
        <a:srgbClr val="EEF3F1"/>
      </a:lt2>
      <a:accent1>
        <a:srgbClr val="0E7C66"/>
      </a:accent1>
      <a:accent2>
        <a:srgbClr val="F2A900"/>
      </a:accent2>
      <a:accent3>
        <a:srgbClr val="D1495B"/>
      </a:accent3>
      <a:accent4>
        <a:srgbClr val="5B6B7A"/>
      </a:accent4>
      <a:accent5>
        <a:srgbClr val="9AD1C0"/>
      </a:accent5>
      <a:accent6>
        <a:srgbClr val="FCE6A8"/>
      </a:accent6>
      <a:hlink>
        <a:srgbClr val="0E7C66"/>
      </a:hlink>
      <a:folHlink>
        <a:srgbClr val="5B6B7A"/>
      </a:folHlink>
    </a:clrScheme>
    <a:fontScheme name="DID Hack Lab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DID Hack 2026 - автономный ИИ-исследователь, команда IKA (финал)</dc:title>
  <dc:subject>PptxGenJS Presentation</dc:subject>
  <dc:creator>Команда IKA</dc:creator>
  <cp:lastModifiedBy>Команда IKA</cp:lastModifiedBy>
  <cp:revision>1</cp:revision>
  <dcterms:created xsi:type="dcterms:W3CDTF">2026-10-09T09:58:09Z</dcterms:created>
  <dcterms:modified xsi:type="dcterms:W3CDTF">2026-10-09T09:58:09Z</dcterms:modified>
</cp:coreProperties>
</file>