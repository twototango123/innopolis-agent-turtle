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1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Задача" id="{0fad8a1c-e496-20c1-ca7b-052b0ebc323e}">
          <p14:sldIdLst>
            <p14:sldId id="256"/>
            <p14:sldId id="257"/>
          </p14:sldIdLst>
        </p14:section>
        <p14:section name="Решение" id="{03922283-6676-3307-af41-6f5df8dec48c}">
          <p14:sldIdLst>
            <p14:sldId id="258"/>
            <p14:sldId id="259"/>
            <p14:sldId id="260"/>
            <p14:sldId id="261"/>
            <p14:sldId id="262"/>
            <p14:sldId id="263"/>
          </p14:sldIdLst>
        </p14:section>
        <p14:section name="LLM" id="{b265e965-cabb-f749-c6d6-6642c0e9f54d}">
          <p14:sldIdLst>
            <p14:sldId id="264"/>
            <p14:sldId id="265"/>
          </p14:sldIdLst>
        </p14:section>
        <p14:section name="Результаты" id="{74dc96e7-56f9-6ee5-1541-ab84588de755}">
          <p14:sldIdLst>
            <p14:sldId id="266"/>
            <p14:sldId id="267"/>
            <p14:sldId id="268"/>
          </p14:sldIdLst>
        </p14:section>
        <p14:section name="Процесс" id="{aad79654-f9f3-3a86-5e39-3f3600425706}">
          <p14:sldIdLst>
            <p14:sldId id="269"/>
            <p14:sldId id="27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4202B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4202B"/>
                </a:solidFill>
                <a:latin typeface="+mn-lt"/>
              </a:rPr>
              <a:t>Расход батареи на метр по переездам, easy (Gazebo)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Расход на метр</c:v>
                </c:pt>
              </c:strCache>
            </c:strRef>
          </c:tx>
          <c:spPr>
            <a:solidFill>
              <a:srgbClr val="5B6B7A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4202B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5B6B7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D1495B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5B6B7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5B6B7A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база → s1</c:v>
                  </c:pt>
                  <c:pt idx="1">
                    <c:v>s1 → s2 (через зону A)</c:v>
                  </c:pt>
                  <c:pt idx="2">
                    <c:v>s2 → s3</c:v>
                  </c:pt>
                  <c:pt idx="3">
                    <c:v>s3 → база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1.11</c:v>
                </c:pt>
                <c:pt idx="1">
                  <c:v>1.7</c:v>
                </c:pt>
                <c:pt idx="2">
                  <c:v>1.15</c:v>
                </c:pt>
                <c:pt idx="3">
                  <c:v>1.11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1400" u="none">
                  <a:solidFill>
                    <a:srgbClr val="14202B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4202B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"/>
          <c:min val="0"/>
        </c:scaling>
        <c:delete val="0"/>
        <c:axPos val="l"/>
        <c:majorGridlines>
          <c:spPr>
            <a:ln w="6350" cap="flat">
              <a:solidFill>
                <a:srgbClr val="D5DFDB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B6B7A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0.5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Мы команда IKA. Задача DID Hack — агент на TurtleBot3 в Gazebo, который сам ищет образцы, следит за батареей и возвращается на базу. Сегодня показываем работающий прототип уровней 0–2: навигацию и LLM-планировщик. Справа — реальный кадр из RViz: робот прошёл три образца и вернулся на базу.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Задача из TASK.md: собрать образцы и вернуться на базу, сам разобравшись в карте и «цене» пола. Цель сегодняшнего этапа — требования к показу: карта, положение робота, постановка задачи, движение и результат. Всё это сделано и показывается вживую.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Полный сценарий: запуск одной командой, карта и положение робота, постановка задачи, движение, результат. Два главных режима: LLM сама планирует миссию — какие образцы и в каком порядке, — либо оператор ставит цель или маршрут мышью в RViz. Есть и фиксированный порядок как базовая линия для сравнения.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Кадр из живого прогона в режиме оператора. Видно карту с запретной зоной, робота и лидар — точки лидара совпадают со стенами, значит локализация верная. Голубая линия — путь A*, цифры — точки маршрута, поставленные кнопкой Publish Point. Жёлтые шары и оранжевый круг — это вид судьи, агент их не видит.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Сверху вниз: оператор или планировщик выдают подцели, исполнитель проверяет бюджет батареи и передаёт поездки навигатору, навигатор строит путь A* и ведёт робота через ROS 2 в Gazebo. Судья отдельно: считает батарею и штрафы по истинной позе из Gazebo. LLM-планировщик уровня 2 встал на место планировщика без изменений в нижних слоях — так и задумывали.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Стек из официальных пакетов: ROS 2 Jazzy, Gazebo Harmonic, TurtleBot3. RViz — для визуализации и постановки целей. Всю логику пишем на Python с numpy, покрываем pytest. LLM — DeepSeek V4.1 Flash через ai.mai.ru, OpenAI-совместимый API. Работаем в WSL2 на Windows с coding-ассистентом Claude Code.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Карту берём готовую — задание это разрешает — и проверили, что она совпадает с координатами Gazebo. Поверх строим карту стоимостей: запретная зона 0,2 м и слой грунтов, который на уровне 3 будем обновлять по расходу батареи. Путь ищет A*, потом путь упрощается до нескольких прямых отрезков.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Контроллер простой и надёжный: развернуться, потом ехать с поправкой по курсу, тормозить перед целью. Лидар — страховка от столкновений. Главная находка: курс колёсной одометрии уплывает, и у образца ошибка доходила до 0,28 м при радиусе сбора 0,30. Взяли курс из IMU — ошибка 5 см.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Главная идея LLM-планировщика — разделение труда. Алгоритм считает: пути, расход батареи, лучшие порядки обхода, проверяет ответы. Модель решает и объясняет: какие образцы брать, когда домой, как реагировать на неожиданное. Модель ссылается на цели по id, поэтому не может выдумать точку. Каждый ответ проверяется; при ошибке модель получает текст ошибки и исправляется, а если не смогла — включается резервный план. Модель не управляет скоростью.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Это мы проверили экспериментом. Когда модель сама считала геометрию, ни одна из шести моделей не дала ответ — уходили в долгие рассуждения. Дали таблицу расходов от A* — все шесть ответили за секунды. При малом заряде модель начала перебирать комбинации и трижды не уложилась в лимит; дали готовые варианты от алгоритма — 4,5 секунды и верный выбор. Вывод: модель — для решений и объяснений, алгоритм — для расчётов. Внизу реальный ответ модели в Gazebo.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Цифры из реальных прогонов, логи лежат в репозитории. В Gazebo easy и medium пройдены полностью, без штрафов. С LLM путь на medium короче: 8,5 метра против 11,7, потому что модель выбрала лучший порядок. При заряде 10 модель взяла 3 образца из 5 и вернулась. В офлайн-симуляторе прогнали по 10 случайных сценариев на каждый уровень — везде все образцы и возврат. Честно показываем слабое место: опасные зоны агент пока не учитывает, это уровень 4.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Это уже научная часть. Агент не знает, где дорогие грунты, но по батарее это видно: на переезде через зону A расход на метр вырос на 53 процента. Это подтверждает нашу гипотезу H1. Следующий шаг — обновлять по этим данным карту стоимостей и объезжать дорогие участки.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Слева то, что работает и проверено сегодня. LLM-планировщик уже работает. Справа план на завтра: поиск образцов по датчику, обновление карты грунтов по батарее и журнал гипотез, адаптация к изменениям среды в hard.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Работали в паре с coding-ассистентом Claude Code. Цикл: план, маленький шаг, запуск с доказательством, коммит, запись в DEVLOG. Ассистент сам находил причины проблем — дрейф одометрии, падение RViz из-за драйвера, потерю имён в мосте. Весь процесс задокументирован в DEVLOG и истории коммитов на GitHub.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Спасибо! Весь код, журнал разработки и резюме проекта лежат на GitHub. Готовы ответить на вопросы.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420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554480"/>
            <a:ext cx="5852160" cy="21945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3" name="Text 0"/>
          <p:cNvSpPr/>
          <p:nvPr/>
        </p:nvSpPr>
        <p:spPr>
          <a:xfrm>
            <a:off x="548640" y="640080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Hack 2026 · команда IKA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image" Target="../media/image-6-7.png"/><Relationship Id="rId8" Type="http://schemas.openxmlformats.org/officeDocument/2006/relationships/image" Target="../media/image-6-8.png"/><Relationship Id="rId9" Type="http://schemas.openxmlformats.org/officeDocument/2006/relationships/image" Target="../media/image-6-9.png"/><Relationship Id="rId10" Type="http://schemas.openxmlformats.org/officeDocument/2006/relationships/slideLayout" Target="../slideLayouts/slideLayout3.xml"/><Relationship Id="rId11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TwoToTango123/innopolis-agent-turtle" TargetMode="External"/><Relationship Id="rId2" Type="http://schemas.openxmlformats.org/officeDocument/2006/relationships/image" Target="../media/image-15-1.png"/><Relationship Id="rId3" Type="http://schemas.openxmlformats.org/officeDocument/2006/relationships/image" Target="../media/image-15-2.png"/><Relationship Id="rId4" Type="http://schemas.openxmlformats.org/officeDocument/2006/relationships/image" Target="../media/image-15-3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554480"/>
            <a:ext cx="58521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Автономный ИИ‑исследователь на роботе‑платформе</a:t>
            </a:r>
            <a:endParaRPr lang="en-US" sz="4000" dirty="0"/>
          </a:p>
        </p:txBody>
      </p:sp>
      <p:sp>
        <p:nvSpPr>
          <p:cNvPr id="3" name="text_1"/>
          <p:cNvSpPr txBox="1"/>
          <p:nvPr/>
        </p:nvSpPr>
        <p:spPr>
          <a:xfrm>
            <a:off x="548640" y="3886200"/>
            <a:ext cx="5760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Прототип: TurtleBot3 в Gazebo сам строит маршрут по карте, собирает образцы и возвращается на базу, а какие цели брать и когда домой — решает LLM</a:t>
            </a:r>
            <a:endParaRPr lang="en-US" sz="1800" dirty="0"/>
          </a:p>
        </p:txBody>
      </p:sp>
      <p:sp>
        <p:nvSpPr>
          <p:cNvPr id="4" name="text_2"/>
          <p:cNvSpPr txBox="1"/>
          <p:nvPr/>
        </p:nvSpPr>
        <p:spPr>
          <a:xfrm>
            <a:off x="548640" y="5394960"/>
            <a:ext cx="5486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Команда «IKA»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Защита прототипа · 8 октября 2026</a:t>
            </a:r>
            <a:endParaRPr lang="en-US" sz="1400" dirty="0"/>
          </a:p>
        </p:txBody>
      </p:sp>
      <p:pic>
        <p:nvPicPr>
          <p:cNvPr id="5" name="rviz_easy_run" descr="C:\Users\1\AppData\Local\Temp\claude\--wsl-localhost-Ubuntu-home-konstsmir-innopolis-proj\725ee427-e78d-4e35-ab66-b60b3292cb6d\scratchpad\deck\map_eas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03720" y="685800"/>
            <a:ext cx="4754880" cy="4709160"/>
          </a:xfrm>
          <a:prstGeom prst="rect">
            <a:avLst/>
          </a:prstGeom>
        </p:spPr>
      </p:pic>
      <p:sp>
        <p:nvSpPr>
          <p:cNvPr id="6" name="text_3"/>
          <p:cNvSpPr txBox="1"/>
          <p:nvPr/>
        </p:nvSpPr>
        <p:spPr>
          <a:xfrm>
            <a:off x="6903720" y="548640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RViz, реальный прогон easy: 3 из 3 образцов, возврат на базу, 0 штрафов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Задача и цель проекта</a:t>
            </a:r>
            <a:endParaRPr lang="en-US" sz="3000" dirty="0"/>
          </a:p>
        </p:txBody>
      </p:sp>
      <p:sp>
        <p:nvSpPr>
          <p:cNvPr id="3" name="card_4"/>
          <p:cNvSpPr/>
          <p:nvPr/>
        </p:nvSpPr>
        <p:spPr>
          <a:xfrm>
            <a:off x="548640" y="1325880"/>
            <a:ext cx="5486400" cy="4754880"/>
          </a:xfrm>
          <a:prstGeom prst="roundRect">
            <a:avLst>
              <a:gd name="adj" fmla="val 1538"/>
            </a:avLst>
          </a:prstGeom>
          <a:solidFill>
            <a:schemeClr val="bg2"/>
          </a:solidFill>
          <a:ln/>
        </p:spPr>
      </p:sp>
      <p:sp>
        <p:nvSpPr>
          <p:cNvPr id="4" name="icon_bg_5"/>
          <p:cNvSpPr/>
          <p:nvPr/>
        </p:nvSpPr>
        <p:spPr>
          <a:xfrm>
            <a:off x="868680" y="1600200"/>
            <a:ext cx="640080" cy="640080"/>
          </a:xfrm>
          <a:prstGeom prst="ellipse">
            <a:avLst/>
          </a:prstGeom>
          <a:solidFill>
            <a:schemeClr val="tx1"/>
          </a:solidFill>
          <a:ln/>
        </p:spPr>
      </p:sp>
      <p:pic>
        <p:nvPicPr>
          <p:cNvPr id="5" name="icon_6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2299" y="1753819"/>
            <a:ext cx="332842" cy="332842"/>
          </a:xfrm>
          <a:prstGeom prst="rect">
            <a:avLst/>
          </a:prstGeom>
        </p:spPr>
      </p:pic>
      <p:sp>
        <p:nvSpPr>
          <p:cNvPr id="6" name="text_7"/>
          <p:cNvSpPr txBox="1"/>
          <p:nvPr/>
        </p:nvSpPr>
        <p:spPr>
          <a:xfrm>
            <a:off x="1691640" y="169164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Задача DID Hack</a:t>
            </a:r>
            <a:endParaRPr lang="en-US" sz="2000" dirty="0"/>
          </a:p>
        </p:txBody>
      </p:sp>
      <p:sp>
        <p:nvSpPr>
          <p:cNvPr id="7" name="text_8"/>
          <p:cNvSpPr txBox="1"/>
          <p:nvPr/>
        </p:nvSpPr>
        <p:spPr>
          <a:xfrm>
            <a:off x="868680" y="2468880"/>
            <a:ext cx="484632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Робот TurtleBot3 Burger в Gazebo, мир turtlebot3_world: шестиугольная арена и 9 столбов</a:t>
            </a:r>
            <a:endParaRPr lang="en-US" sz="16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 арене скрытые образцы и «дорогие» грунты, батарея ограничена (старт 60)</a:t>
            </a:r>
            <a:endParaRPr lang="en-US" sz="16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Нужно собрать как можно больше образцов и вернуться на базу до разрядки</a:t>
            </a:r>
            <a:endParaRPr lang="en-US" sz="16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Пять уровней: среда → навигация → LLM-планировщик → научный цикл → адаптация</a:t>
            </a:r>
            <a:endParaRPr lang="en-US" sz="1600" dirty="0"/>
          </a:p>
        </p:txBody>
      </p:sp>
      <p:sp>
        <p:nvSpPr>
          <p:cNvPr id="8" name="text_9"/>
          <p:cNvSpPr txBox="1"/>
          <p:nvPr/>
        </p:nvSpPr>
        <p:spPr>
          <a:xfrm>
            <a:off x="6400800" y="1371600"/>
            <a:ext cx="5212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Цель этапа — работающий прототип</a:t>
            </a:r>
            <a:endParaRPr lang="en-US" sz="1900" dirty="0"/>
          </a:p>
        </p:txBody>
      </p:sp>
      <p:sp>
        <p:nvSpPr>
          <p:cNvPr id="9" name="icon_bg_10"/>
          <p:cNvSpPr/>
          <p:nvPr/>
        </p:nvSpPr>
        <p:spPr>
          <a:xfrm>
            <a:off x="6400800" y="2103120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0" name="icon_1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54419" y="2256739"/>
            <a:ext cx="332842" cy="332842"/>
          </a:xfrm>
          <a:prstGeom prst="rect">
            <a:avLst/>
          </a:prstGeom>
        </p:spPr>
      </p:pic>
      <p:sp>
        <p:nvSpPr>
          <p:cNvPr id="11" name="text_12"/>
          <p:cNvSpPr txBox="1"/>
          <p:nvPr/>
        </p:nvSpPr>
        <p:spPr>
          <a:xfrm>
            <a:off x="7223760" y="2084832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Карта и положение робота</a:t>
            </a:r>
            <a:endParaRPr lang="en-US" sz="1600" dirty="0"/>
          </a:p>
        </p:txBody>
      </p:sp>
      <p:sp>
        <p:nvSpPr>
          <p:cNvPr id="12" name="text_13"/>
          <p:cNvSpPr txBox="1"/>
          <p:nvPr/>
        </p:nvSpPr>
        <p:spPr>
          <a:xfrm>
            <a:off x="7223760" y="2432304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статичная карта арены, робот и лидар на ней в RViz</a:t>
            </a:r>
            <a:endParaRPr lang="en-US" sz="1400" dirty="0"/>
          </a:p>
        </p:txBody>
      </p:sp>
      <p:sp>
        <p:nvSpPr>
          <p:cNvPr id="13" name="icon_bg_14"/>
          <p:cNvSpPr/>
          <p:nvPr/>
        </p:nvSpPr>
        <p:spPr>
          <a:xfrm>
            <a:off x="6400800" y="3090672"/>
            <a:ext cx="640080" cy="64008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14" name="icon_15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4419" y="3244291"/>
            <a:ext cx="332842" cy="332842"/>
          </a:xfrm>
          <a:prstGeom prst="rect">
            <a:avLst/>
          </a:prstGeom>
        </p:spPr>
      </p:pic>
      <p:sp>
        <p:nvSpPr>
          <p:cNvPr id="15" name="text_16"/>
          <p:cNvSpPr txBox="1"/>
          <p:nvPr/>
        </p:nvSpPr>
        <p:spPr>
          <a:xfrm>
            <a:off x="7223760" y="3072384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Постановка задачи</a:t>
            </a:r>
            <a:endParaRPr lang="en-US" sz="1600" dirty="0"/>
          </a:p>
        </p:txBody>
      </p:sp>
      <p:sp>
        <p:nvSpPr>
          <p:cNvPr id="16" name="text_17"/>
          <p:cNvSpPr txBox="1"/>
          <p:nvPr/>
        </p:nvSpPr>
        <p:spPr>
          <a:xfrm>
            <a:off x="7223760" y="3419856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миссия текстом для LLM или точка и маршрут мышью в RViz</a:t>
            </a:r>
            <a:endParaRPr lang="en-US" sz="1400" dirty="0"/>
          </a:p>
        </p:txBody>
      </p:sp>
      <p:sp>
        <p:nvSpPr>
          <p:cNvPr id="17" name="icon_bg_18"/>
          <p:cNvSpPr/>
          <p:nvPr/>
        </p:nvSpPr>
        <p:spPr>
          <a:xfrm>
            <a:off x="6400800" y="4078224"/>
            <a:ext cx="640080" cy="640080"/>
          </a:xfrm>
          <a:prstGeom prst="ellipse">
            <a:avLst/>
          </a:prstGeom>
          <a:solidFill>
            <a:schemeClr val="tx1"/>
          </a:solidFill>
          <a:ln/>
        </p:spPr>
      </p:sp>
      <p:pic>
        <p:nvPicPr>
          <p:cNvPr id="18" name="icon_19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54419" y="4231843"/>
            <a:ext cx="332842" cy="332842"/>
          </a:xfrm>
          <a:prstGeom prst="rect">
            <a:avLst/>
          </a:prstGeom>
        </p:spPr>
      </p:pic>
      <p:sp>
        <p:nvSpPr>
          <p:cNvPr id="19" name="text_20"/>
          <p:cNvSpPr txBox="1"/>
          <p:nvPr/>
        </p:nvSpPr>
        <p:spPr>
          <a:xfrm>
            <a:off x="7223760" y="4059936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Движение по маршруту</a:t>
            </a:r>
            <a:endParaRPr lang="en-US" sz="1600" dirty="0"/>
          </a:p>
        </p:txBody>
      </p:sp>
      <p:sp>
        <p:nvSpPr>
          <p:cNvPr id="20" name="text_21"/>
          <p:cNvSpPr txBox="1"/>
          <p:nvPr/>
        </p:nvSpPr>
        <p:spPr>
          <a:xfrm>
            <a:off x="7223760" y="4407408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путь A* по карте стоимостей, объезд препятствий</a:t>
            </a:r>
            <a:endParaRPr lang="en-US" sz="1400" dirty="0"/>
          </a:p>
        </p:txBody>
      </p:sp>
      <p:sp>
        <p:nvSpPr>
          <p:cNvPr id="21" name="icon_bg_22"/>
          <p:cNvSpPr/>
          <p:nvPr/>
        </p:nvSpPr>
        <p:spPr>
          <a:xfrm>
            <a:off x="6400800" y="5065776"/>
            <a:ext cx="640080" cy="64008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22" name="icon_2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54419" y="5219395"/>
            <a:ext cx="332842" cy="332842"/>
          </a:xfrm>
          <a:prstGeom prst="rect">
            <a:avLst/>
          </a:prstGeom>
        </p:spPr>
      </p:pic>
      <p:sp>
        <p:nvSpPr>
          <p:cNvPr id="23" name="text_24"/>
          <p:cNvSpPr txBox="1"/>
          <p:nvPr/>
        </p:nvSpPr>
        <p:spPr>
          <a:xfrm>
            <a:off x="7223760" y="5047488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Результат</a:t>
            </a:r>
            <a:endParaRPr lang="en-US" sz="1600" dirty="0"/>
          </a:p>
        </p:txBody>
      </p:sp>
      <p:sp>
        <p:nvSpPr>
          <p:cNvPr id="24" name="text_25"/>
          <p:cNvSpPr txBox="1"/>
          <p:nvPr/>
        </p:nvSpPr>
        <p:spPr>
          <a:xfrm>
            <a:off x="7223760" y="5394960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сбор образцов, возврат на базу, счёт судьи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Сценарий работы робота</a:t>
            </a:r>
            <a:endParaRPr lang="en-US" sz="3000" dirty="0"/>
          </a:p>
        </p:txBody>
      </p:sp>
      <p:sp>
        <p:nvSpPr>
          <p:cNvPr id="3" name="flow_line"/>
          <p:cNvSpPr/>
          <p:nvPr/>
        </p:nvSpPr>
        <p:spPr>
          <a:xfrm>
            <a:off x="1097280" y="1783080"/>
            <a:ext cx="8997696" cy="0"/>
          </a:xfrm>
          <a:prstGeom prst="line">
            <a:avLst/>
          </a:prstGeom>
          <a:noFill/>
          <a:ln w="38100">
            <a:solidFill>
              <a:schemeClr val="accent5"/>
            </a:solidFill>
            <a:prstDash val="solid"/>
          </a:ln>
        </p:spPr>
      </p:sp>
      <p:sp>
        <p:nvSpPr>
          <p:cNvPr id="4" name="icon_bg_26"/>
          <p:cNvSpPr/>
          <p:nvPr/>
        </p:nvSpPr>
        <p:spPr>
          <a:xfrm>
            <a:off x="777240" y="1463040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5" name="icon_27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0859" y="1616659"/>
            <a:ext cx="332842" cy="332842"/>
          </a:xfrm>
          <a:prstGeom prst="rect">
            <a:avLst/>
          </a:prstGeom>
        </p:spPr>
      </p:pic>
      <p:sp>
        <p:nvSpPr>
          <p:cNvPr id="6" name="text_28"/>
          <p:cNvSpPr txBox="1"/>
          <p:nvPr/>
        </p:nvSpPr>
        <p:spPr>
          <a:xfrm>
            <a:off x="548640" y="2286000"/>
            <a:ext cx="2057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Запуск</a:t>
            </a:r>
            <a:endParaRPr lang="en-US" sz="1800" dirty="0"/>
          </a:p>
        </p:txBody>
      </p:sp>
      <p:sp>
        <p:nvSpPr>
          <p:cNvPr id="7" name="text_29"/>
          <p:cNvSpPr txBox="1"/>
          <p:nvPr/>
        </p:nvSpPr>
        <p:spPr>
          <a:xfrm>
            <a:off x="548640" y="2743200"/>
            <a:ext cx="1965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Одна команда поднимает Gazebo, судью, агента и RViz</a:t>
            </a:r>
            <a:endParaRPr lang="en-US" sz="1400" dirty="0"/>
          </a:p>
        </p:txBody>
      </p:sp>
      <p:sp>
        <p:nvSpPr>
          <p:cNvPr id="8" name="icon_bg_30"/>
          <p:cNvSpPr/>
          <p:nvPr/>
        </p:nvSpPr>
        <p:spPr>
          <a:xfrm>
            <a:off x="3026664" y="1463040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9" name="icon_3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80283" y="1616659"/>
            <a:ext cx="332842" cy="332842"/>
          </a:xfrm>
          <a:prstGeom prst="rect">
            <a:avLst/>
          </a:prstGeom>
        </p:spPr>
      </p:pic>
      <p:sp>
        <p:nvSpPr>
          <p:cNvPr id="10" name="text_32"/>
          <p:cNvSpPr txBox="1"/>
          <p:nvPr/>
        </p:nvSpPr>
        <p:spPr>
          <a:xfrm>
            <a:off x="2798064" y="2286000"/>
            <a:ext cx="2057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Карта</a:t>
            </a:r>
            <a:endParaRPr lang="en-US" sz="1800" dirty="0"/>
          </a:p>
        </p:txBody>
      </p:sp>
      <p:sp>
        <p:nvSpPr>
          <p:cNvPr id="11" name="text_33"/>
          <p:cNvSpPr txBox="1"/>
          <p:nvPr/>
        </p:nvSpPr>
        <p:spPr>
          <a:xfrm>
            <a:off x="2798064" y="2743200"/>
            <a:ext cx="1965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Статичная карта арены и запретная зона 0,2 м; робот на карте</a:t>
            </a:r>
            <a:endParaRPr lang="en-US" sz="1400" dirty="0"/>
          </a:p>
        </p:txBody>
      </p:sp>
      <p:sp>
        <p:nvSpPr>
          <p:cNvPr id="12" name="icon_bg_34"/>
          <p:cNvSpPr/>
          <p:nvPr/>
        </p:nvSpPr>
        <p:spPr>
          <a:xfrm>
            <a:off x="5276088" y="1463040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3" name="icon_35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29707" y="1616659"/>
            <a:ext cx="332842" cy="332842"/>
          </a:xfrm>
          <a:prstGeom prst="rect">
            <a:avLst/>
          </a:prstGeom>
        </p:spPr>
      </p:pic>
      <p:sp>
        <p:nvSpPr>
          <p:cNvPr id="14" name="text_36"/>
          <p:cNvSpPr txBox="1"/>
          <p:nvPr/>
        </p:nvSpPr>
        <p:spPr>
          <a:xfrm>
            <a:off x="5047488" y="2286000"/>
            <a:ext cx="2057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Задача</a:t>
            </a:r>
            <a:endParaRPr lang="en-US" sz="1800" dirty="0"/>
          </a:p>
        </p:txBody>
      </p:sp>
      <p:sp>
        <p:nvSpPr>
          <p:cNvPr id="15" name="text_37"/>
          <p:cNvSpPr txBox="1"/>
          <p:nvPr/>
        </p:nvSpPr>
        <p:spPr>
          <a:xfrm>
            <a:off x="5047488" y="2743200"/>
            <a:ext cx="1965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строит план миссии, или оператор: точка и маршрут мышью</a:t>
            </a:r>
            <a:endParaRPr lang="en-US" sz="1400" dirty="0"/>
          </a:p>
        </p:txBody>
      </p:sp>
      <p:sp>
        <p:nvSpPr>
          <p:cNvPr id="16" name="icon_bg_38"/>
          <p:cNvSpPr/>
          <p:nvPr/>
        </p:nvSpPr>
        <p:spPr>
          <a:xfrm>
            <a:off x="7525512" y="1463040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7" name="icon_39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79131" y="1616659"/>
            <a:ext cx="332842" cy="332842"/>
          </a:xfrm>
          <a:prstGeom prst="rect">
            <a:avLst/>
          </a:prstGeom>
        </p:spPr>
      </p:pic>
      <p:sp>
        <p:nvSpPr>
          <p:cNvPr id="18" name="text_40"/>
          <p:cNvSpPr txBox="1"/>
          <p:nvPr/>
        </p:nvSpPr>
        <p:spPr>
          <a:xfrm>
            <a:off x="7296912" y="2286000"/>
            <a:ext cx="2057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Движение</a:t>
            </a:r>
            <a:endParaRPr lang="en-US" sz="1800" dirty="0"/>
          </a:p>
        </p:txBody>
      </p:sp>
      <p:sp>
        <p:nvSpPr>
          <p:cNvPr id="19" name="text_41"/>
          <p:cNvSpPr txBox="1"/>
          <p:nvPr/>
        </p:nvSpPr>
        <p:spPr>
          <a:xfrm>
            <a:off x="7296912" y="2743200"/>
            <a:ext cx="1965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A* → путевые точки → скорость в /cmd_vel; стоп по лидару</a:t>
            </a:r>
            <a:endParaRPr lang="en-US" sz="1400" dirty="0"/>
          </a:p>
        </p:txBody>
      </p:sp>
      <p:sp>
        <p:nvSpPr>
          <p:cNvPr id="20" name="icon_bg_42"/>
          <p:cNvSpPr/>
          <p:nvPr/>
        </p:nvSpPr>
        <p:spPr>
          <a:xfrm>
            <a:off x="9774936" y="1463040"/>
            <a:ext cx="640080" cy="64008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21" name="icon_4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928555" y="1616659"/>
            <a:ext cx="332842" cy="332842"/>
          </a:xfrm>
          <a:prstGeom prst="rect">
            <a:avLst/>
          </a:prstGeom>
        </p:spPr>
      </p:pic>
      <p:sp>
        <p:nvSpPr>
          <p:cNvPr id="22" name="text_44"/>
          <p:cNvSpPr txBox="1"/>
          <p:nvPr/>
        </p:nvSpPr>
        <p:spPr>
          <a:xfrm>
            <a:off x="9546336" y="2286000"/>
            <a:ext cx="2057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Результат</a:t>
            </a:r>
            <a:endParaRPr lang="en-US" sz="1800" dirty="0"/>
          </a:p>
        </p:txBody>
      </p:sp>
      <p:sp>
        <p:nvSpPr>
          <p:cNvPr id="23" name="text_45"/>
          <p:cNvSpPr txBox="1"/>
          <p:nvPr/>
        </p:nvSpPr>
        <p:spPr>
          <a:xfrm>
            <a:off x="9546336" y="2743200"/>
            <a:ext cx="1965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Сбор образцов, возврат, /did/finish и счёт судьи</a:t>
            </a:r>
            <a:endParaRPr lang="en-US" sz="1400" dirty="0"/>
          </a:p>
        </p:txBody>
      </p:sp>
      <p:sp>
        <p:nvSpPr>
          <p:cNvPr id="24" name="card_46"/>
          <p:cNvSpPr/>
          <p:nvPr/>
        </p:nvSpPr>
        <p:spPr>
          <a:xfrm>
            <a:off x="548640" y="4069080"/>
            <a:ext cx="5440680" cy="201168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/>
        </p:spPr>
      </p:sp>
      <p:sp>
        <p:nvSpPr>
          <p:cNvPr id="25" name="text_47"/>
          <p:cNvSpPr txBox="1"/>
          <p:nvPr/>
        </p:nvSpPr>
        <p:spPr>
          <a:xfrm>
            <a:off x="822960" y="425196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Оператор задаёт цель и маршрут</a:t>
            </a:r>
            <a:endParaRPr lang="en-US" sz="1600" dirty="0"/>
          </a:p>
        </p:txBody>
      </p:sp>
      <p:sp>
        <p:nvSpPr>
          <p:cNvPr id="26" name="cmd_bg_48"/>
          <p:cNvSpPr/>
          <p:nvPr/>
        </p:nvSpPr>
        <p:spPr>
          <a:xfrm>
            <a:off x="822960" y="4709160"/>
            <a:ext cx="4892040" cy="457200"/>
          </a:xfrm>
          <a:prstGeom prst="roundRect">
            <a:avLst>
              <a:gd name="adj" fmla="val 12000"/>
            </a:avLst>
          </a:prstGeom>
          <a:solidFill>
            <a:schemeClr val="tx1"/>
          </a:solidFill>
          <a:ln/>
        </p:spPr>
      </p:sp>
      <p:sp>
        <p:nvSpPr>
          <p:cNvPr id="27" name="text_49"/>
          <p:cNvSpPr txBox="1"/>
          <p:nvPr/>
        </p:nvSpPr>
        <p:spPr>
          <a:xfrm>
            <a:off x="960120" y="4709160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ros2 launch did_agent did.launch.py planner:=manual</a:t>
            </a:r>
            <a:endParaRPr lang="en-US" sz="1100" dirty="0"/>
          </a:p>
        </p:txBody>
      </p:sp>
      <p:sp>
        <p:nvSpPr>
          <p:cNvPr id="28" name="text_50"/>
          <p:cNvSpPr txBox="1"/>
          <p:nvPr/>
        </p:nvSpPr>
        <p:spPr>
          <a:xfrm>
            <a:off x="822960" y="5303520"/>
            <a:ext cx="4937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Цель на базе — вернуться и завершить прогон; новая цель прерывает текущую поездку</a:t>
            </a:r>
            <a:endParaRPr lang="en-US" sz="1400" dirty="0"/>
          </a:p>
        </p:txBody>
      </p:sp>
      <p:sp>
        <p:nvSpPr>
          <p:cNvPr id="29" name="card_51"/>
          <p:cNvSpPr/>
          <p:nvPr/>
        </p:nvSpPr>
        <p:spPr>
          <a:xfrm>
            <a:off x="6190488" y="4069080"/>
            <a:ext cx="5440680" cy="201168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/>
        </p:spPr>
      </p:sp>
      <p:sp>
        <p:nvSpPr>
          <p:cNvPr id="30" name="text_52"/>
          <p:cNvSpPr txBox="1"/>
          <p:nvPr/>
        </p:nvSpPr>
        <p:spPr>
          <a:xfrm>
            <a:off x="6464808" y="425196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выбирает цели и порядок</a:t>
            </a:r>
            <a:endParaRPr lang="en-US" sz="1600" dirty="0"/>
          </a:p>
        </p:txBody>
      </p:sp>
      <p:sp>
        <p:nvSpPr>
          <p:cNvPr id="31" name="cmd_bg_53"/>
          <p:cNvSpPr/>
          <p:nvPr/>
        </p:nvSpPr>
        <p:spPr>
          <a:xfrm>
            <a:off x="6464808" y="4709160"/>
            <a:ext cx="4892040" cy="457200"/>
          </a:xfrm>
          <a:prstGeom prst="roundRect">
            <a:avLst>
              <a:gd name="adj" fmla="val 12000"/>
            </a:avLst>
          </a:prstGeom>
          <a:solidFill>
            <a:schemeClr val="tx1"/>
          </a:solidFill>
          <a:ln/>
        </p:spPr>
      </p:sp>
      <p:sp>
        <p:nvSpPr>
          <p:cNvPr id="32" name="text_54"/>
          <p:cNvSpPr txBox="1"/>
          <p:nvPr/>
        </p:nvSpPr>
        <p:spPr>
          <a:xfrm>
            <a:off x="6601968" y="4709160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ros2 launch did_agent did.launch.py planner:=llm</a:t>
            </a:r>
            <a:endParaRPr lang="en-US" sz="1100" dirty="0"/>
          </a:p>
        </p:txBody>
      </p:sp>
      <p:sp>
        <p:nvSpPr>
          <p:cNvPr id="33" name="text_55"/>
          <p:cNvSpPr txBox="1"/>
          <p:nvPr/>
        </p:nvSpPr>
        <p:spPr>
          <a:xfrm>
            <a:off x="6464808" y="5303520"/>
            <a:ext cx="4937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Модель решает, какие образцы собрать и когда домой, и объясняет решение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Что видно на демо: RViz</a:t>
            </a:r>
            <a:endParaRPr lang="en-US" sz="3000" dirty="0"/>
          </a:p>
        </p:txBody>
      </p:sp>
      <p:pic>
        <p:nvPicPr>
          <p:cNvPr id="3" name="rviz_route_screenshot" descr="C:\Users\1\AppData\Local\Temp\claude\--wsl-localhost-Ubuntu-home-konstsmir-innopolis-proj\725ee427-e78d-4e35-ab66-b60b3292cb6d\scratchpad\deck\rviz_full_rou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280160"/>
            <a:ext cx="6355080" cy="4754880"/>
          </a:xfrm>
          <a:prstGeom prst="rect">
            <a:avLst/>
          </a:prstGeom>
        </p:spPr>
      </p:pic>
      <p:sp>
        <p:nvSpPr>
          <p:cNvPr id="4" name="legend_dot_56"/>
          <p:cNvSpPr/>
          <p:nvPr/>
        </p:nvSpPr>
        <p:spPr>
          <a:xfrm>
            <a:off x="7269480" y="1444752"/>
            <a:ext cx="256032" cy="256032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5" name="text_57"/>
          <p:cNvSpPr txBox="1"/>
          <p:nvPr/>
        </p:nvSpPr>
        <p:spPr>
          <a:xfrm>
            <a:off x="7680960" y="137160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Карта и запретная зона</a:t>
            </a:r>
            <a:endParaRPr lang="en-US" sz="1600" dirty="0"/>
          </a:p>
        </p:txBody>
      </p:sp>
      <p:sp>
        <p:nvSpPr>
          <p:cNvPr id="6" name="text_58"/>
          <p:cNvSpPr txBox="1"/>
          <p:nvPr/>
        </p:nvSpPr>
        <p:spPr>
          <a:xfrm>
            <a:off x="7680960" y="1719072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серые стены и столбы, бордовая полоса — запас 0,2 м</a:t>
            </a:r>
            <a:endParaRPr lang="en-US" sz="1400" dirty="0"/>
          </a:p>
        </p:txBody>
      </p:sp>
      <p:sp>
        <p:nvSpPr>
          <p:cNvPr id="7" name="legend_dot_59"/>
          <p:cNvSpPr/>
          <p:nvPr/>
        </p:nvSpPr>
        <p:spPr>
          <a:xfrm>
            <a:off x="7269480" y="2359152"/>
            <a:ext cx="256032" cy="256032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8" name="text_60"/>
          <p:cNvSpPr txBox="1"/>
          <p:nvPr/>
        </p:nvSpPr>
        <p:spPr>
          <a:xfrm>
            <a:off x="7680960" y="228600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Робот и лидар</a:t>
            </a:r>
            <a:endParaRPr lang="en-US" sz="1600" dirty="0"/>
          </a:p>
        </p:txBody>
      </p:sp>
      <p:sp>
        <p:nvSpPr>
          <p:cNvPr id="9" name="text_61"/>
          <p:cNvSpPr txBox="1"/>
          <p:nvPr/>
        </p:nvSpPr>
        <p:spPr>
          <a:xfrm>
            <a:off x="7680960" y="2633472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красные точки ложатся на стены — робот знает, где он</a:t>
            </a:r>
            <a:endParaRPr lang="en-US" sz="1400" dirty="0"/>
          </a:p>
        </p:txBody>
      </p:sp>
      <p:sp>
        <p:nvSpPr>
          <p:cNvPr id="10" name="legend_dot_62"/>
          <p:cNvSpPr/>
          <p:nvPr/>
        </p:nvSpPr>
        <p:spPr>
          <a:xfrm>
            <a:off x="7269480" y="3273552"/>
            <a:ext cx="256032" cy="25603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1" name="text_63"/>
          <p:cNvSpPr txBox="1"/>
          <p:nvPr/>
        </p:nvSpPr>
        <p:spPr>
          <a:xfrm>
            <a:off x="7680960" y="320040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Путь A* и маршрут</a:t>
            </a:r>
            <a:endParaRPr lang="en-US" sz="1600" dirty="0"/>
          </a:p>
        </p:txBody>
      </p:sp>
      <p:sp>
        <p:nvSpPr>
          <p:cNvPr id="12" name="text_64"/>
          <p:cNvSpPr txBox="1"/>
          <p:nvPr/>
        </p:nvSpPr>
        <p:spPr>
          <a:xfrm>
            <a:off x="7680960" y="3547872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голубая линия, номера — точки, заданные мышью</a:t>
            </a:r>
            <a:endParaRPr lang="en-US" sz="1400" dirty="0"/>
          </a:p>
        </p:txBody>
      </p:sp>
      <p:sp>
        <p:nvSpPr>
          <p:cNvPr id="13" name="legend_dot_65"/>
          <p:cNvSpPr/>
          <p:nvPr/>
        </p:nvSpPr>
        <p:spPr>
          <a:xfrm>
            <a:off x="7269480" y="4187952"/>
            <a:ext cx="256032" cy="25603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4" name="text_66"/>
          <p:cNvSpPr txBox="1"/>
          <p:nvPr/>
        </p:nvSpPr>
        <p:spPr>
          <a:xfrm>
            <a:off x="7680960" y="411480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Вид судьи</a:t>
            </a:r>
            <a:endParaRPr lang="en-US" sz="1600" dirty="0"/>
          </a:p>
        </p:txBody>
      </p:sp>
      <p:sp>
        <p:nvSpPr>
          <p:cNvPr id="15" name="text_67"/>
          <p:cNvSpPr txBox="1"/>
          <p:nvPr/>
        </p:nvSpPr>
        <p:spPr>
          <a:xfrm>
            <a:off x="7680960" y="4462272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жёлтые шары — образцы, оранжевый круг — грунт ×3,4</a:t>
            </a:r>
            <a:endParaRPr lang="en-US" sz="1400" dirty="0"/>
          </a:p>
        </p:txBody>
      </p:sp>
      <p:sp>
        <p:nvSpPr>
          <p:cNvPr id="16" name="legend_dot_68"/>
          <p:cNvSpPr/>
          <p:nvPr/>
        </p:nvSpPr>
        <p:spPr>
          <a:xfrm>
            <a:off x="7269480" y="5102352"/>
            <a:ext cx="256032" cy="25603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7" name="text_69"/>
          <p:cNvSpPr txBox="1"/>
          <p:nvPr/>
        </p:nvSpPr>
        <p:spPr>
          <a:xfrm>
            <a:off x="7680960" y="502920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База</a:t>
            </a:r>
            <a:endParaRPr lang="en-US" sz="1600" dirty="0"/>
          </a:p>
        </p:txBody>
      </p:sp>
      <p:sp>
        <p:nvSpPr>
          <p:cNvPr id="18" name="text_70"/>
          <p:cNvSpPr txBox="1"/>
          <p:nvPr/>
        </p:nvSpPr>
        <p:spPr>
          <a:xfrm>
            <a:off x="7680960" y="5376672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зелёный круг; цель сюда — вернуться и завершить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Архитектура решения</a:t>
            </a:r>
            <a:endParaRPr lang="en-US" sz="3000" dirty="0"/>
          </a:p>
        </p:txBody>
      </p:sp>
      <p:sp>
        <p:nvSpPr>
          <p:cNvPr id="3" name="arch_spine"/>
          <p:cNvSpPr/>
          <p:nvPr/>
        </p:nvSpPr>
        <p:spPr>
          <a:xfrm>
            <a:off x="1051560" y="1645920"/>
            <a:ext cx="0" cy="3803904"/>
          </a:xfrm>
          <a:prstGeom prst="line">
            <a:avLst/>
          </a:prstGeom>
          <a:noFill/>
          <a:ln w="38100">
            <a:solidFill>
              <a:schemeClr val="accent5"/>
            </a:solidFill>
            <a:prstDash val="solid"/>
          </a:ln>
        </p:spPr>
      </p:sp>
      <p:sp>
        <p:nvSpPr>
          <p:cNvPr id="4" name="card_71"/>
          <p:cNvSpPr/>
          <p:nvPr/>
        </p:nvSpPr>
        <p:spPr>
          <a:xfrm>
            <a:off x="1554480" y="1280160"/>
            <a:ext cx="5897880" cy="73152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/>
        </p:spPr>
      </p:sp>
      <p:sp>
        <p:nvSpPr>
          <p:cNvPr id="5" name="icon_bg_72"/>
          <p:cNvSpPr/>
          <p:nvPr/>
        </p:nvSpPr>
        <p:spPr>
          <a:xfrm>
            <a:off x="731520" y="1325880"/>
            <a:ext cx="640080" cy="64008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6" name="icon_73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5139" y="1479499"/>
            <a:ext cx="332842" cy="332842"/>
          </a:xfrm>
          <a:prstGeom prst="rect">
            <a:avLst/>
          </a:prstGeom>
        </p:spPr>
      </p:pic>
      <p:sp>
        <p:nvSpPr>
          <p:cNvPr id="7" name="text_74"/>
          <p:cNvSpPr txBox="1"/>
          <p:nvPr/>
        </p:nvSpPr>
        <p:spPr>
          <a:xfrm>
            <a:off x="1783080" y="1353312"/>
            <a:ext cx="5532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Оператор / RViz2</a:t>
            </a:r>
            <a:endParaRPr lang="en-US" sz="1500" dirty="0"/>
          </a:p>
        </p:txBody>
      </p:sp>
      <p:sp>
        <p:nvSpPr>
          <p:cNvPr id="8" name="text_75"/>
          <p:cNvSpPr txBox="1"/>
          <p:nvPr/>
        </p:nvSpPr>
        <p:spPr>
          <a:xfrm>
            <a:off x="1783080" y="1664208"/>
            <a:ext cx="5532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цели мышью (/goal_pose, /clicked_point), карта, путь, маршрут</a:t>
            </a:r>
            <a:endParaRPr lang="en-US" sz="1200" dirty="0"/>
          </a:p>
        </p:txBody>
      </p:sp>
      <p:sp>
        <p:nvSpPr>
          <p:cNvPr id="9" name="card_76"/>
          <p:cNvSpPr/>
          <p:nvPr/>
        </p:nvSpPr>
        <p:spPr>
          <a:xfrm>
            <a:off x="1554480" y="2231136"/>
            <a:ext cx="5897880" cy="73152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/>
        </p:spPr>
      </p:sp>
      <p:sp>
        <p:nvSpPr>
          <p:cNvPr id="10" name="icon_bg_77"/>
          <p:cNvSpPr/>
          <p:nvPr/>
        </p:nvSpPr>
        <p:spPr>
          <a:xfrm>
            <a:off x="731520" y="2276856"/>
            <a:ext cx="640080" cy="640080"/>
          </a:xfrm>
          <a:prstGeom prst="ellipse">
            <a:avLst/>
          </a:prstGeom>
          <a:solidFill>
            <a:schemeClr val="tx1"/>
          </a:solidFill>
          <a:ln/>
        </p:spPr>
      </p:sp>
      <p:pic>
        <p:nvPicPr>
          <p:cNvPr id="11" name="icon_78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5139" y="2430475"/>
            <a:ext cx="332842" cy="332842"/>
          </a:xfrm>
          <a:prstGeom prst="rect">
            <a:avLst/>
          </a:prstGeom>
        </p:spPr>
      </p:pic>
      <p:sp>
        <p:nvSpPr>
          <p:cNvPr id="12" name="text_79"/>
          <p:cNvSpPr txBox="1"/>
          <p:nvPr/>
        </p:nvSpPr>
        <p:spPr>
          <a:xfrm>
            <a:off x="1783080" y="2304288"/>
            <a:ext cx="5532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Планировщик → подцели</a:t>
            </a:r>
            <a:endParaRPr lang="en-US" sz="1500" dirty="0"/>
          </a:p>
        </p:txBody>
      </p:sp>
      <p:sp>
        <p:nvSpPr>
          <p:cNvPr id="13" name="text_80"/>
          <p:cNvSpPr txBox="1"/>
          <p:nvPr/>
        </p:nvSpPr>
        <p:spPr>
          <a:xfrm>
            <a:off x="1783080" y="2615184"/>
            <a:ext cx="5532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(DeepSeek) · manual (оператор) · scripted (базовая линия)</a:t>
            </a:r>
            <a:endParaRPr lang="en-US" sz="1200" dirty="0"/>
          </a:p>
        </p:txBody>
      </p:sp>
      <p:sp>
        <p:nvSpPr>
          <p:cNvPr id="14" name="card_81"/>
          <p:cNvSpPr/>
          <p:nvPr/>
        </p:nvSpPr>
        <p:spPr>
          <a:xfrm>
            <a:off x="1554480" y="3182112"/>
            <a:ext cx="5897880" cy="73152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/>
        </p:spPr>
      </p:sp>
      <p:sp>
        <p:nvSpPr>
          <p:cNvPr id="15" name="icon_bg_82"/>
          <p:cNvSpPr/>
          <p:nvPr/>
        </p:nvSpPr>
        <p:spPr>
          <a:xfrm>
            <a:off x="731520" y="3227832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6" name="icon_83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139" y="3381451"/>
            <a:ext cx="332842" cy="332842"/>
          </a:xfrm>
          <a:prstGeom prst="rect">
            <a:avLst/>
          </a:prstGeom>
        </p:spPr>
      </p:pic>
      <p:sp>
        <p:nvSpPr>
          <p:cNvPr id="17" name="text_84"/>
          <p:cNvSpPr txBox="1"/>
          <p:nvPr/>
        </p:nvSpPr>
        <p:spPr>
          <a:xfrm>
            <a:off x="1783080" y="3255264"/>
            <a:ext cx="5532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Исполнитель подцелей</a:t>
            </a:r>
            <a:endParaRPr lang="en-US" sz="1500" dirty="0"/>
          </a:p>
        </p:txBody>
      </p:sp>
      <p:sp>
        <p:nvSpPr>
          <p:cNvPr id="18" name="text_85"/>
          <p:cNvSpPr txBox="1"/>
          <p:nvPr/>
        </p:nvSpPr>
        <p:spPr>
          <a:xfrm>
            <a:off x="1783080" y="3566160"/>
            <a:ext cx="5532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goto / collect / return / finish; бюджет батареи «туда + домой»</a:t>
            </a:r>
            <a:endParaRPr lang="en-US" sz="1200" dirty="0"/>
          </a:p>
        </p:txBody>
      </p:sp>
      <p:sp>
        <p:nvSpPr>
          <p:cNvPr id="19" name="card_86"/>
          <p:cNvSpPr/>
          <p:nvPr/>
        </p:nvSpPr>
        <p:spPr>
          <a:xfrm>
            <a:off x="1554480" y="4133088"/>
            <a:ext cx="5897880" cy="73152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/>
        </p:spPr>
      </p:sp>
      <p:sp>
        <p:nvSpPr>
          <p:cNvPr id="20" name="icon_bg_87"/>
          <p:cNvSpPr/>
          <p:nvPr/>
        </p:nvSpPr>
        <p:spPr>
          <a:xfrm>
            <a:off x="731520" y="4178808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1" name="icon_88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5139" y="4332427"/>
            <a:ext cx="332842" cy="332842"/>
          </a:xfrm>
          <a:prstGeom prst="rect">
            <a:avLst/>
          </a:prstGeom>
        </p:spPr>
      </p:pic>
      <p:sp>
        <p:nvSpPr>
          <p:cNvPr id="22" name="text_89"/>
          <p:cNvSpPr txBox="1"/>
          <p:nvPr/>
        </p:nvSpPr>
        <p:spPr>
          <a:xfrm>
            <a:off x="1783080" y="4206240"/>
            <a:ext cx="5532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Навигатор и локализация</a:t>
            </a:r>
            <a:endParaRPr lang="en-US" sz="1500" dirty="0"/>
          </a:p>
        </p:txBody>
      </p:sp>
      <p:sp>
        <p:nvSpPr>
          <p:cNvPr id="23" name="text_90"/>
          <p:cNvSpPr txBox="1"/>
          <p:nvPr/>
        </p:nvSpPr>
        <p:spPr>
          <a:xfrm>
            <a:off x="1783080" y="4517136"/>
            <a:ext cx="5532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карта стоимостей, A*, контроллер, лидар; поза: одометрия + IMU</a:t>
            </a:r>
            <a:endParaRPr lang="en-US" sz="1200" dirty="0"/>
          </a:p>
        </p:txBody>
      </p:sp>
      <p:sp>
        <p:nvSpPr>
          <p:cNvPr id="24" name="card_91"/>
          <p:cNvSpPr/>
          <p:nvPr/>
        </p:nvSpPr>
        <p:spPr>
          <a:xfrm>
            <a:off x="1554480" y="5084064"/>
            <a:ext cx="5897880" cy="73152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/>
        </p:spPr>
      </p:sp>
      <p:sp>
        <p:nvSpPr>
          <p:cNvPr id="25" name="icon_bg_92"/>
          <p:cNvSpPr/>
          <p:nvPr/>
        </p:nvSpPr>
        <p:spPr>
          <a:xfrm>
            <a:off x="731520" y="5129784"/>
            <a:ext cx="640080" cy="640080"/>
          </a:xfrm>
          <a:prstGeom prst="ellipse">
            <a:avLst/>
          </a:prstGeom>
          <a:solidFill>
            <a:schemeClr val="accent4"/>
          </a:solidFill>
          <a:ln/>
        </p:spPr>
      </p:sp>
      <p:pic>
        <p:nvPicPr>
          <p:cNvPr id="26" name="icon_9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85139" y="5283403"/>
            <a:ext cx="332842" cy="332842"/>
          </a:xfrm>
          <a:prstGeom prst="rect">
            <a:avLst/>
          </a:prstGeom>
        </p:spPr>
      </p:pic>
      <p:sp>
        <p:nvSpPr>
          <p:cNvPr id="27" name="text_94"/>
          <p:cNvSpPr txBox="1"/>
          <p:nvPr/>
        </p:nvSpPr>
        <p:spPr>
          <a:xfrm>
            <a:off x="1783080" y="5157216"/>
            <a:ext cx="5532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ROS 2 ↔ Gazebo</a:t>
            </a:r>
            <a:endParaRPr lang="en-US" sz="1500" dirty="0"/>
          </a:p>
        </p:txBody>
      </p:sp>
      <p:sp>
        <p:nvSpPr>
          <p:cNvPr id="28" name="text_95"/>
          <p:cNvSpPr txBox="1"/>
          <p:nvPr/>
        </p:nvSpPr>
        <p:spPr>
          <a:xfrm>
            <a:off x="1783080" y="5468112"/>
            <a:ext cx="5532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/cmd_vel (TwistStamped) · /odom · /imu · /scan · TF</a:t>
            </a:r>
            <a:endParaRPr lang="en-US" sz="1200" dirty="0"/>
          </a:p>
        </p:txBody>
      </p:sp>
      <p:sp>
        <p:nvSpPr>
          <p:cNvPr id="29" name="judge_box"/>
          <p:cNvSpPr/>
          <p:nvPr/>
        </p:nvSpPr>
        <p:spPr>
          <a:xfrm>
            <a:off x="7726680" y="3154680"/>
            <a:ext cx="3916375" cy="2514600"/>
          </a:xfrm>
          <a:prstGeom prst="roundRect">
            <a:avLst>
              <a:gd name="adj" fmla="val 2909"/>
            </a:avLst>
          </a:prstGeom>
          <a:solidFill>
            <a:schemeClr val="tx1"/>
          </a:solidFill>
          <a:ln/>
        </p:spPr>
      </p:sp>
      <p:sp>
        <p:nvSpPr>
          <p:cNvPr id="30" name="judge_icon_bg_96"/>
          <p:cNvSpPr/>
          <p:nvPr/>
        </p:nvSpPr>
        <p:spPr>
          <a:xfrm>
            <a:off x="7955280" y="3337560"/>
            <a:ext cx="548640" cy="54864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31" name="judge_icon_97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86954" y="3469234"/>
            <a:ext cx="285293" cy="285293"/>
          </a:xfrm>
          <a:prstGeom prst="rect">
            <a:avLst/>
          </a:prstGeom>
        </p:spPr>
      </p:pic>
      <p:sp>
        <p:nvSpPr>
          <p:cNvPr id="32" name="text_98"/>
          <p:cNvSpPr txBox="1"/>
          <p:nvPr/>
        </p:nvSpPr>
        <p:spPr>
          <a:xfrm>
            <a:off x="8641080" y="3401568"/>
            <a:ext cx="29105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Судья did_judge</a:t>
            </a:r>
            <a:endParaRPr lang="en-US" sz="1600" dirty="0"/>
          </a:p>
        </p:txBody>
      </p:sp>
      <p:sp>
        <p:nvSpPr>
          <p:cNvPr id="33" name="text_99"/>
          <p:cNvSpPr txBox="1"/>
          <p:nvPr/>
        </p:nvSpPr>
        <p:spPr>
          <a:xfrm>
            <a:off x="7955280" y="4023360"/>
            <a:ext cx="3504895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батарея, датчик образцов, штрафы</a:t>
            </a:r>
            <a:endParaRPr lang="en-US" sz="12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сценарии easy / medium / hard по seed</a:t>
            </a:r>
            <a:endParaRPr lang="en-US" sz="12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истинная поза из Gazebo</a:t>
            </a:r>
            <a:endParaRPr lang="en-US" sz="12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/did/battery, /did/score, /did/events; /did/collect, /did/finish</a:t>
            </a:r>
            <a:endParaRPr lang="en-US" sz="1200" dirty="0"/>
          </a:p>
        </p:txBody>
      </p:sp>
      <p:sp>
        <p:nvSpPr>
          <p:cNvPr id="34" name="judge_link"/>
          <p:cNvSpPr/>
          <p:nvPr/>
        </p:nvSpPr>
        <p:spPr>
          <a:xfrm>
            <a:off x="7452360" y="3547872"/>
            <a:ext cx="274320" cy="0"/>
          </a:xfrm>
          <a:prstGeom prst="line">
            <a:avLst/>
          </a:prstGeom>
          <a:noFill/>
          <a:ln w="25400">
            <a:solidFill>
              <a:schemeClr val="accent2"/>
            </a:solidFill>
            <a:prstDash val="solid"/>
            <a:headEnd type="triangle"/>
            <a:tailEnd type="triangle"/>
          </a:ln>
        </p:spPr>
      </p:sp>
      <p:sp>
        <p:nvSpPr>
          <p:cNvPr id="35" name="principle_100"/>
          <p:cNvSpPr/>
          <p:nvPr/>
        </p:nvSpPr>
        <p:spPr>
          <a:xfrm>
            <a:off x="7726680" y="1280160"/>
            <a:ext cx="3916375" cy="1645920"/>
          </a:xfrm>
          <a:prstGeom prst="roundRect">
            <a:avLst>
              <a:gd name="adj" fmla="val 4444"/>
            </a:avLst>
          </a:prstGeom>
          <a:solidFill>
            <a:schemeClr val="accent6"/>
          </a:solidFill>
          <a:ln/>
        </p:spPr>
      </p:sp>
      <p:sp>
        <p:nvSpPr>
          <p:cNvPr id="36" name="text_101"/>
          <p:cNvSpPr txBox="1"/>
          <p:nvPr/>
        </p:nvSpPr>
        <p:spPr>
          <a:xfrm>
            <a:off x="7955280" y="1417320"/>
            <a:ext cx="3504895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Принцип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Логика — чистый Python без ROS: тестируется на любой ОС. Узлы ROS — тонкая обёртка. LLM выдаёт только подцели и не управляет скоростью.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Технологии и их назначение</a:t>
            </a:r>
            <a:endParaRPr lang="en-US" sz="3000" dirty="0"/>
          </a:p>
        </p:txBody>
      </p:sp>
      <p:sp>
        <p:nvSpPr>
          <p:cNvPr id="3" name="card_102"/>
          <p:cNvSpPr/>
          <p:nvPr/>
        </p:nvSpPr>
        <p:spPr>
          <a:xfrm>
            <a:off x="548640" y="1325880"/>
            <a:ext cx="3566160" cy="13716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/>
        </p:spPr>
      </p:sp>
      <p:sp>
        <p:nvSpPr>
          <p:cNvPr id="4" name="icon_bg_103"/>
          <p:cNvSpPr/>
          <p:nvPr/>
        </p:nvSpPr>
        <p:spPr>
          <a:xfrm>
            <a:off x="777240" y="1691640"/>
            <a:ext cx="640080" cy="640080"/>
          </a:xfrm>
          <a:prstGeom prst="ellipse">
            <a:avLst/>
          </a:prstGeom>
          <a:solidFill>
            <a:schemeClr val="tx1"/>
          </a:solidFill>
          <a:ln/>
        </p:spPr>
      </p:sp>
      <p:pic>
        <p:nvPicPr>
          <p:cNvPr id="5" name="icon_104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0859" y="1845259"/>
            <a:ext cx="332842" cy="332842"/>
          </a:xfrm>
          <a:prstGeom prst="rect">
            <a:avLst/>
          </a:prstGeom>
        </p:spPr>
      </p:pic>
      <p:sp>
        <p:nvSpPr>
          <p:cNvPr id="6" name="text_105"/>
          <p:cNvSpPr txBox="1"/>
          <p:nvPr/>
        </p:nvSpPr>
        <p:spPr>
          <a:xfrm>
            <a:off x="1600200" y="160020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ROS 2 Jazzy</a:t>
            </a:r>
            <a:endParaRPr lang="en-US" sz="1500" dirty="0"/>
          </a:p>
        </p:txBody>
      </p:sp>
      <p:sp>
        <p:nvSpPr>
          <p:cNvPr id="7" name="text_106"/>
          <p:cNvSpPr txBox="1"/>
          <p:nvPr/>
        </p:nvSpPr>
        <p:spPr>
          <a:xfrm>
            <a:off x="1600200" y="2039112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узлы, топики, сервисы, launch, TF</a:t>
            </a:r>
            <a:endParaRPr lang="en-US" sz="1300" dirty="0"/>
          </a:p>
        </p:txBody>
      </p:sp>
      <p:sp>
        <p:nvSpPr>
          <p:cNvPr id="8" name="card_107"/>
          <p:cNvSpPr/>
          <p:nvPr/>
        </p:nvSpPr>
        <p:spPr>
          <a:xfrm>
            <a:off x="4315968" y="1325880"/>
            <a:ext cx="3566160" cy="13716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/>
        </p:spPr>
      </p:sp>
      <p:sp>
        <p:nvSpPr>
          <p:cNvPr id="9" name="icon_bg_108"/>
          <p:cNvSpPr/>
          <p:nvPr/>
        </p:nvSpPr>
        <p:spPr>
          <a:xfrm>
            <a:off x="4544568" y="1691640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0" name="icon_109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98187" y="1845259"/>
            <a:ext cx="332842" cy="332842"/>
          </a:xfrm>
          <a:prstGeom prst="rect">
            <a:avLst/>
          </a:prstGeom>
        </p:spPr>
      </p:pic>
      <p:sp>
        <p:nvSpPr>
          <p:cNvPr id="11" name="text_110"/>
          <p:cNvSpPr txBox="1"/>
          <p:nvPr/>
        </p:nvSpPr>
        <p:spPr>
          <a:xfrm>
            <a:off x="5367528" y="160020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Gazebo Harmonic</a:t>
            </a:r>
            <a:endParaRPr lang="en-US" sz="1500" dirty="0"/>
          </a:p>
        </p:txBody>
      </p:sp>
      <p:sp>
        <p:nvSpPr>
          <p:cNvPr id="12" name="text_111"/>
          <p:cNvSpPr txBox="1"/>
          <p:nvPr/>
        </p:nvSpPr>
        <p:spPr>
          <a:xfrm>
            <a:off x="5367528" y="2039112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физика робота и мира turtlebot3_world</a:t>
            </a:r>
            <a:endParaRPr lang="en-US" sz="1300" dirty="0"/>
          </a:p>
        </p:txBody>
      </p:sp>
      <p:sp>
        <p:nvSpPr>
          <p:cNvPr id="13" name="card_112"/>
          <p:cNvSpPr/>
          <p:nvPr/>
        </p:nvSpPr>
        <p:spPr>
          <a:xfrm>
            <a:off x="8083296" y="1325880"/>
            <a:ext cx="3566160" cy="13716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/>
        </p:spPr>
      </p:sp>
      <p:sp>
        <p:nvSpPr>
          <p:cNvPr id="14" name="icon_bg_113"/>
          <p:cNvSpPr/>
          <p:nvPr/>
        </p:nvSpPr>
        <p:spPr>
          <a:xfrm>
            <a:off x="8311896" y="1691640"/>
            <a:ext cx="640080" cy="64008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15" name="icon_114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65515" y="1845259"/>
            <a:ext cx="332842" cy="332842"/>
          </a:xfrm>
          <a:prstGeom prst="rect">
            <a:avLst/>
          </a:prstGeom>
        </p:spPr>
      </p:pic>
      <p:sp>
        <p:nvSpPr>
          <p:cNvPr id="16" name="text_115"/>
          <p:cNvSpPr txBox="1"/>
          <p:nvPr/>
        </p:nvSpPr>
        <p:spPr>
          <a:xfrm>
            <a:off x="9134856" y="160020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TurtleBot3 Burger</a:t>
            </a:r>
            <a:endParaRPr lang="en-US" sz="1500" dirty="0"/>
          </a:p>
        </p:txBody>
      </p:sp>
      <p:sp>
        <p:nvSpPr>
          <p:cNvPr id="17" name="text_116"/>
          <p:cNvSpPr txBox="1"/>
          <p:nvPr/>
        </p:nvSpPr>
        <p:spPr>
          <a:xfrm>
            <a:off x="9134856" y="2039112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робот: 0,22 м/с, лидар 360°, IMU</a:t>
            </a:r>
            <a:endParaRPr lang="en-US" sz="1300" dirty="0"/>
          </a:p>
        </p:txBody>
      </p:sp>
      <p:sp>
        <p:nvSpPr>
          <p:cNvPr id="18" name="card_117"/>
          <p:cNvSpPr/>
          <p:nvPr/>
        </p:nvSpPr>
        <p:spPr>
          <a:xfrm>
            <a:off x="548640" y="2880360"/>
            <a:ext cx="3566160" cy="13716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/>
        </p:spPr>
      </p:sp>
      <p:sp>
        <p:nvSpPr>
          <p:cNvPr id="19" name="icon_bg_118"/>
          <p:cNvSpPr/>
          <p:nvPr/>
        </p:nvSpPr>
        <p:spPr>
          <a:xfrm>
            <a:off x="777240" y="3246120"/>
            <a:ext cx="640080" cy="640080"/>
          </a:xfrm>
          <a:prstGeom prst="ellipse">
            <a:avLst/>
          </a:prstGeom>
          <a:solidFill>
            <a:schemeClr val="accent4"/>
          </a:solidFill>
          <a:ln/>
        </p:spPr>
      </p:sp>
      <p:pic>
        <p:nvPicPr>
          <p:cNvPr id="20" name="icon_119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0859" y="3399739"/>
            <a:ext cx="332842" cy="332842"/>
          </a:xfrm>
          <a:prstGeom prst="rect">
            <a:avLst/>
          </a:prstGeom>
        </p:spPr>
      </p:pic>
      <p:sp>
        <p:nvSpPr>
          <p:cNvPr id="21" name="text_120"/>
          <p:cNvSpPr txBox="1"/>
          <p:nvPr/>
        </p:nvSpPr>
        <p:spPr>
          <a:xfrm>
            <a:off x="1600200" y="315468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ros_gz_bridge</a:t>
            </a:r>
            <a:endParaRPr lang="en-US" sz="1500" dirty="0"/>
          </a:p>
        </p:txBody>
      </p:sp>
      <p:sp>
        <p:nvSpPr>
          <p:cNvPr id="22" name="text_121"/>
          <p:cNvSpPr txBox="1"/>
          <p:nvPr/>
        </p:nvSpPr>
        <p:spPr>
          <a:xfrm>
            <a:off x="1600200" y="3593592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топики Gazebo ↔ ROS; gz-transport — поза для судьи</a:t>
            </a:r>
            <a:endParaRPr lang="en-US" sz="1300" dirty="0"/>
          </a:p>
        </p:txBody>
      </p:sp>
      <p:sp>
        <p:nvSpPr>
          <p:cNvPr id="23" name="card_122"/>
          <p:cNvSpPr/>
          <p:nvPr/>
        </p:nvSpPr>
        <p:spPr>
          <a:xfrm>
            <a:off x="4315968" y="2880360"/>
            <a:ext cx="3566160" cy="13716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/>
        </p:spPr>
      </p:sp>
      <p:sp>
        <p:nvSpPr>
          <p:cNvPr id="24" name="icon_bg_123"/>
          <p:cNvSpPr/>
          <p:nvPr/>
        </p:nvSpPr>
        <p:spPr>
          <a:xfrm>
            <a:off x="4544568" y="3246120"/>
            <a:ext cx="640080" cy="64008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25" name="icon_12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98187" y="3399739"/>
            <a:ext cx="332842" cy="332842"/>
          </a:xfrm>
          <a:prstGeom prst="rect">
            <a:avLst/>
          </a:prstGeom>
        </p:spPr>
      </p:pic>
      <p:sp>
        <p:nvSpPr>
          <p:cNvPr id="26" name="text_125"/>
          <p:cNvSpPr txBox="1"/>
          <p:nvPr/>
        </p:nvSpPr>
        <p:spPr>
          <a:xfrm>
            <a:off x="5367528" y="315468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RViz2</a:t>
            </a:r>
            <a:endParaRPr lang="en-US" sz="1500" dirty="0"/>
          </a:p>
        </p:txBody>
      </p:sp>
      <p:sp>
        <p:nvSpPr>
          <p:cNvPr id="27" name="text_126"/>
          <p:cNvSpPr txBox="1"/>
          <p:nvPr/>
        </p:nvSpPr>
        <p:spPr>
          <a:xfrm>
            <a:off x="5367528" y="3593592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карта, робот, путь; цели мышью</a:t>
            </a:r>
            <a:endParaRPr lang="en-US" sz="1300" dirty="0"/>
          </a:p>
        </p:txBody>
      </p:sp>
      <p:sp>
        <p:nvSpPr>
          <p:cNvPr id="28" name="card_127"/>
          <p:cNvSpPr/>
          <p:nvPr/>
        </p:nvSpPr>
        <p:spPr>
          <a:xfrm>
            <a:off x="8083296" y="2880360"/>
            <a:ext cx="3566160" cy="13716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/>
        </p:spPr>
      </p:sp>
      <p:sp>
        <p:nvSpPr>
          <p:cNvPr id="29" name="icon_bg_128"/>
          <p:cNvSpPr/>
          <p:nvPr/>
        </p:nvSpPr>
        <p:spPr>
          <a:xfrm>
            <a:off x="8311896" y="3246120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30" name="icon_129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65515" y="3399739"/>
            <a:ext cx="332842" cy="332842"/>
          </a:xfrm>
          <a:prstGeom prst="rect">
            <a:avLst/>
          </a:prstGeom>
        </p:spPr>
      </p:pic>
      <p:sp>
        <p:nvSpPr>
          <p:cNvPr id="31" name="text_130"/>
          <p:cNvSpPr txBox="1"/>
          <p:nvPr/>
        </p:nvSpPr>
        <p:spPr>
          <a:xfrm>
            <a:off x="9134856" y="315468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nav2_map_server</a:t>
            </a:r>
            <a:endParaRPr lang="en-US" sz="1500" dirty="0"/>
          </a:p>
        </p:txBody>
      </p:sp>
      <p:sp>
        <p:nvSpPr>
          <p:cNvPr id="32" name="text_131"/>
          <p:cNvSpPr txBox="1"/>
          <p:nvPr/>
        </p:nvSpPr>
        <p:spPr>
          <a:xfrm>
            <a:off x="9134856" y="3593592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статичная карта арены в /map</a:t>
            </a:r>
            <a:endParaRPr lang="en-US" sz="1300" dirty="0"/>
          </a:p>
        </p:txBody>
      </p:sp>
      <p:sp>
        <p:nvSpPr>
          <p:cNvPr id="33" name="card_132"/>
          <p:cNvSpPr/>
          <p:nvPr/>
        </p:nvSpPr>
        <p:spPr>
          <a:xfrm>
            <a:off x="548640" y="4434840"/>
            <a:ext cx="3566160" cy="13716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/>
        </p:spPr>
      </p:sp>
      <p:sp>
        <p:nvSpPr>
          <p:cNvPr id="34" name="icon_bg_133"/>
          <p:cNvSpPr/>
          <p:nvPr/>
        </p:nvSpPr>
        <p:spPr>
          <a:xfrm>
            <a:off x="777240" y="4800600"/>
            <a:ext cx="640080" cy="640080"/>
          </a:xfrm>
          <a:prstGeom prst="ellipse">
            <a:avLst/>
          </a:prstGeom>
          <a:solidFill>
            <a:schemeClr val="tx1"/>
          </a:solidFill>
          <a:ln/>
        </p:spPr>
      </p:sp>
      <p:pic>
        <p:nvPicPr>
          <p:cNvPr id="35" name="icon_134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30859" y="4954219"/>
            <a:ext cx="332842" cy="332842"/>
          </a:xfrm>
          <a:prstGeom prst="rect">
            <a:avLst/>
          </a:prstGeom>
        </p:spPr>
      </p:pic>
      <p:sp>
        <p:nvSpPr>
          <p:cNvPr id="36" name="text_135"/>
          <p:cNvSpPr txBox="1"/>
          <p:nvPr/>
        </p:nvSpPr>
        <p:spPr>
          <a:xfrm>
            <a:off x="1600200" y="470916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+ numpy, pytest</a:t>
            </a:r>
            <a:endParaRPr lang="en-US" sz="1500" dirty="0"/>
          </a:p>
        </p:txBody>
      </p:sp>
      <p:sp>
        <p:nvSpPr>
          <p:cNvPr id="37" name="text_136"/>
          <p:cNvSpPr txBox="1"/>
          <p:nvPr/>
        </p:nvSpPr>
        <p:spPr>
          <a:xfrm>
            <a:off x="1600200" y="5148072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вся логика; 118 автотестов</a:t>
            </a:r>
            <a:endParaRPr lang="en-US" sz="1300" dirty="0"/>
          </a:p>
        </p:txBody>
      </p:sp>
      <p:sp>
        <p:nvSpPr>
          <p:cNvPr id="38" name="card_137"/>
          <p:cNvSpPr/>
          <p:nvPr/>
        </p:nvSpPr>
        <p:spPr>
          <a:xfrm>
            <a:off x="4315968" y="4434840"/>
            <a:ext cx="3566160" cy="13716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/>
        </p:spPr>
      </p:sp>
      <p:sp>
        <p:nvSpPr>
          <p:cNvPr id="39" name="icon_bg_138"/>
          <p:cNvSpPr/>
          <p:nvPr/>
        </p:nvSpPr>
        <p:spPr>
          <a:xfrm>
            <a:off x="4544568" y="4800600"/>
            <a:ext cx="640080" cy="64008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40" name="icon_139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698187" y="4954219"/>
            <a:ext cx="332842" cy="332842"/>
          </a:xfrm>
          <a:prstGeom prst="rect">
            <a:avLst/>
          </a:prstGeom>
        </p:spPr>
      </p:pic>
      <p:sp>
        <p:nvSpPr>
          <p:cNvPr id="41" name="text_140"/>
          <p:cNvSpPr txBox="1"/>
          <p:nvPr/>
        </p:nvSpPr>
        <p:spPr>
          <a:xfrm>
            <a:off x="5367528" y="470916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DeepSeek V4.1 Flash</a:t>
            </a:r>
            <a:endParaRPr lang="en-US" sz="1500" dirty="0"/>
          </a:p>
        </p:txBody>
      </p:sp>
      <p:sp>
        <p:nvSpPr>
          <p:cNvPr id="42" name="text_141"/>
          <p:cNvSpPr txBox="1"/>
          <p:nvPr/>
        </p:nvSpPr>
        <p:spPr>
          <a:xfrm>
            <a:off x="5367528" y="5148072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LLM-планировщик через ai.mai.ru</a:t>
            </a:r>
            <a:endParaRPr lang="en-US" sz="1300" dirty="0"/>
          </a:p>
        </p:txBody>
      </p:sp>
      <p:sp>
        <p:nvSpPr>
          <p:cNvPr id="43" name="card_142"/>
          <p:cNvSpPr/>
          <p:nvPr/>
        </p:nvSpPr>
        <p:spPr>
          <a:xfrm>
            <a:off x="8083296" y="4434840"/>
            <a:ext cx="3566160" cy="13716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/>
        </p:spPr>
      </p:sp>
      <p:sp>
        <p:nvSpPr>
          <p:cNvPr id="44" name="icon_bg_143"/>
          <p:cNvSpPr/>
          <p:nvPr/>
        </p:nvSpPr>
        <p:spPr>
          <a:xfrm>
            <a:off x="8311896" y="4800600"/>
            <a:ext cx="640080" cy="640080"/>
          </a:xfrm>
          <a:prstGeom prst="ellipse">
            <a:avLst/>
          </a:prstGeom>
          <a:solidFill>
            <a:schemeClr val="accent4"/>
          </a:solidFill>
          <a:ln/>
        </p:spPr>
      </p:sp>
      <p:pic>
        <p:nvPicPr>
          <p:cNvPr id="45" name="icon_144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465515" y="4954219"/>
            <a:ext cx="332842" cy="332842"/>
          </a:xfrm>
          <a:prstGeom prst="rect">
            <a:avLst/>
          </a:prstGeom>
        </p:spPr>
      </p:pic>
      <p:sp>
        <p:nvSpPr>
          <p:cNvPr id="46" name="text_145"/>
          <p:cNvSpPr txBox="1"/>
          <p:nvPr/>
        </p:nvSpPr>
        <p:spPr>
          <a:xfrm>
            <a:off x="9134856" y="470916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WSL2 + Claude Code</a:t>
            </a:r>
            <a:endParaRPr lang="en-US" sz="1500" dirty="0"/>
          </a:p>
        </p:txBody>
      </p:sp>
      <p:sp>
        <p:nvSpPr>
          <p:cNvPr id="47" name="text_146"/>
          <p:cNvSpPr txBox="1"/>
          <p:nvPr/>
        </p:nvSpPr>
        <p:spPr>
          <a:xfrm>
            <a:off x="9134856" y="5148072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среда команды и coding-ассистент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Карта и планирование пути</a:t>
            </a:r>
            <a:endParaRPr lang="en-US" sz="3000" dirty="0"/>
          </a:p>
        </p:txBody>
      </p:sp>
      <p:pic>
        <p:nvPicPr>
          <p:cNvPr id="3" name="map_costmap_path" descr="C:\Users\1\AppData\Local\Temp\claude\--wsl-localhost-Ubuntu-home-konstsmir-innopolis-proj\725ee427-e78d-4e35-ab66-b60b3292cb6d\scratchpad\deck\map_pla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234440"/>
            <a:ext cx="4846320" cy="4800600"/>
          </a:xfrm>
          <a:prstGeom prst="rect">
            <a:avLst/>
          </a:prstGeom>
        </p:spPr>
      </p:pic>
      <p:sp>
        <p:nvSpPr>
          <p:cNvPr id="4" name="step_dot_147"/>
          <p:cNvSpPr/>
          <p:nvPr/>
        </p:nvSpPr>
        <p:spPr>
          <a:xfrm>
            <a:off x="5760720" y="128016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5" name="text_148"/>
          <p:cNvSpPr txBox="1"/>
          <p:nvPr/>
        </p:nvSpPr>
        <p:spPr>
          <a:xfrm>
            <a:off x="5760720" y="12801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6" name="text_149"/>
          <p:cNvSpPr txBox="1"/>
          <p:nvPr/>
        </p:nvSpPr>
        <p:spPr>
          <a:xfrm>
            <a:off x="6537960" y="1261872"/>
            <a:ext cx="5074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Статичная карта</a:t>
            </a:r>
            <a:endParaRPr lang="en-US" sz="1600" dirty="0"/>
          </a:p>
        </p:txBody>
      </p:sp>
      <p:sp>
        <p:nvSpPr>
          <p:cNvPr id="7" name="text_150"/>
          <p:cNvSpPr txBox="1"/>
          <p:nvPr/>
        </p:nvSpPr>
        <p:spPr>
          <a:xfrm>
            <a:off x="6537960" y="1627632"/>
            <a:ext cx="5074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map.pgm из turtlebot3_navigation2: 384×384 клеток по 5 см. Проверили совпадение с Gazebo — 9 столбов найдены с ошибкой &lt; 4 см</a:t>
            </a:r>
            <a:endParaRPr lang="en-US" sz="1300" dirty="0"/>
          </a:p>
        </p:txBody>
      </p:sp>
      <p:sp>
        <p:nvSpPr>
          <p:cNvPr id="8" name="step_dot_151"/>
          <p:cNvSpPr/>
          <p:nvPr/>
        </p:nvSpPr>
        <p:spPr>
          <a:xfrm>
            <a:off x="5760720" y="2487168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9" name="text_152"/>
          <p:cNvSpPr txBox="1"/>
          <p:nvPr/>
        </p:nvSpPr>
        <p:spPr>
          <a:xfrm>
            <a:off x="5760720" y="248716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0" name="text_153"/>
          <p:cNvSpPr txBox="1"/>
          <p:nvPr/>
        </p:nvSpPr>
        <p:spPr>
          <a:xfrm>
            <a:off x="6537960" y="2468880"/>
            <a:ext cx="5074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Карта стоимостей</a:t>
            </a:r>
            <a:endParaRPr lang="en-US" sz="1600" dirty="0"/>
          </a:p>
        </p:txBody>
      </p:sp>
      <p:sp>
        <p:nvSpPr>
          <p:cNvPr id="11" name="text_154"/>
          <p:cNvSpPr txBox="1"/>
          <p:nvPr/>
        </p:nvSpPr>
        <p:spPr>
          <a:xfrm>
            <a:off x="6537960" y="2834640"/>
            <a:ext cx="5074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Препятствия раздуты на 0,2 м от центра робота — туда нельзя. У стен клетки дороже ×2, слой «грунтов» обновляется на ходу</a:t>
            </a:r>
            <a:endParaRPr lang="en-US" sz="1300" dirty="0"/>
          </a:p>
        </p:txBody>
      </p:sp>
      <p:sp>
        <p:nvSpPr>
          <p:cNvPr id="12" name="step_dot_155"/>
          <p:cNvSpPr/>
          <p:nvPr/>
        </p:nvSpPr>
        <p:spPr>
          <a:xfrm>
            <a:off x="5760720" y="3694176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3" name="text_156"/>
          <p:cNvSpPr txBox="1"/>
          <p:nvPr/>
        </p:nvSpPr>
        <p:spPr>
          <a:xfrm>
            <a:off x="5760720" y="3694176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4" name="text_157"/>
          <p:cNvSpPr txBox="1"/>
          <p:nvPr/>
        </p:nvSpPr>
        <p:spPr>
          <a:xfrm>
            <a:off x="6537960" y="3675888"/>
            <a:ext cx="5074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Поиск пути A*</a:t>
            </a:r>
            <a:endParaRPr lang="en-US" sz="1600" dirty="0"/>
          </a:p>
        </p:txBody>
      </p:sp>
      <p:sp>
        <p:nvSpPr>
          <p:cNvPr id="15" name="text_158"/>
          <p:cNvSpPr txBox="1"/>
          <p:nvPr/>
        </p:nvSpPr>
        <p:spPr>
          <a:xfrm>
            <a:off x="6537960" y="4041648"/>
            <a:ext cx="5074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направлений, без срезания углов; цена шага = длина × множитель клетки. Вся арена — около 10 мс</a:t>
            </a:r>
            <a:endParaRPr lang="en-US" sz="1300" dirty="0"/>
          </a:p>
        </p:txBody>
      </p:sp>
      <p:sp>
        <p:nvSpPr>
          <p:cNvPr id="16" name="step_dot_159"/>
          <p:cNvSpPr/>
          <p:nvPr/>
        </p:nvSpPr>
        <p:spPr>
          <a:xfrm>
            <a:off x="5760720" y="4901184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7" name="text_160"/>
          <p:cNvSpPr txBox="1"/>
          <p:nvPr/>
        </p:nvSpPr>
        <p:spPr>
          <a:xfrm>
            <a:off x="5760720" y="490118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00" dirty="0"/>
          </a:p>
        </p:txBody>
      </p:sp>
      <p:sp>
        <p:nvSpPr>
          <p:cNvPr id="18" name="text_161"/>
          <p:cNvSpPr txBox="1"/>
          <p:nvPr/>
        </p:nvSpPr>
        <p:spPr>
          <a:xfrm>
            <a:off x="6537960" y="4882896"/>
            <a:ext cx="5074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Путевые точки</a:t>
            </a:r>
            <a:endParaRPr lang="en-US" sz="1600" dirty="0"/>
          </a:p>
        </p:txBody>
      </p:sp>
      <p:sp>
        <p:nvSpPr>
          <p:cNvPr id="19" name="text_162"/>
          <p:cNvSpPr txBox="1"/>
          <p:nvPr/>
        </p:nvSpPr>
        <p:spPr>
          <a:xfrm>
            <a:off x="6537960" y="5248656"/>
            <a:ext cx="5074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Лестница клеток сжимается в 3–10 отрезков; срезка допускается, только если она не дороже исходного пути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Движение и положение робота</a:t>
            </a:r>
            <a:endParaRPr lang="en-US" sz="3000" dirty="0"/>
          </a:p>
        </p:txBody>
      </p:sp>
      <p:sp>
        <p:nvSpPr>
          <p:cNvPr id="3" name="icon_bg_163"/>
          <p:cNvSpPr/>
          <p:nvPr/>
        </p:nvSpPr>
        <p:spPr>
          <a:xfrm>
            <a:off x="548640" y="1325880"/>
            <a:ext cx="594360" cy="59436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4" name="icon_164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1286" y="1468526"/>
            <a:ext cx="309067" cy="309067"/>
          </a:xfrm>
          <a:prstGeom prst="rect">
            <a:avLst/>
          </a:prstGeom>
        </p:spPr>
      </p:pic>
      <p:sp>
        <p:nvSpPr>
          <p:cNvPr id="5" name="text_165"/>
          <p:cNvSpPr txBox="1"/>
          <p:nvPr/>
        </p:nvSpPr>
        <p:spPr>
          <a:xfrm>
            <a:off x="1371600" y="1307592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Поворот, затем езда</a:t>
            </a:r>
            <a:endParaRPr lang="en-US" sz="1600" dirty="0"/>
          </a:p>
        </p:txBody>
      </p:sp>
      <p:sp>
        <p:nvSpPr>
          <p:cNvPr id="6" name="text_166"/>
          <p:cNvSpPr txBox="1"/>
          <p:nvPr/>
        </p:nvSpPr>
        <p:spPr>
          <a:xfrm>
            <a:off x="1371600" y="1655064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ошибка курса &gt; 0,6 рад — разворот на месте; иначе едем с поправкой по курсу</a:t>
            </a:r>
            <a:endParaRPr lang="en-US" sz="1300" dirty="0"/>
          </a:p>
        </p:txBody>
      </p:sp>
      <p:sp>
        <p:nvSpPr>
          <p:cNvPr id="7" name="icon_bg_167"/>
          <p:cNvSpPr/>
          <p:nvPr/>
        </p:nvSpPr>
        <p:spPr>
          <a:xfrm>
            <a:off x="548640" y="2286000"/>
            <a:ext cx="594360" cy="59436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8" name="icon_168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1286" y="2428646"/>
            <a:ext cx="309067" cy="309067"/>
          </a:xfrm>
          <a:prstGeom prst="rect">
            <a:avLst/>
          </a:prstGeom>
        </p:spPr>
      </p:pic>
      <p:sp>
        <p:nvSpPr>
          <p:cNvPr id="9" name="text_169"/>
          <p:cNvSpPr txBox="1"/>
          <p:nvPr/>
        </p:nvSpPr>
        <p:spPr>
          <a:xfrm>
            <a:off x="1371600" y="2267712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Ограничения Burger</a:t>
            </a:r>
            <a:endParaRPr lang="en-US" sz="1600" dirty="0"/>
          </a:p>
        </p:txBody>
      </p:sp>
      <p:sp>
        <p:nvSpPr>
          <p:cNvPr id="10" name="text_170"/>
          <p:cNvSpPr txBox="1"/>
          <p:nvPr/>
        </p:nvSpPr>
        <p:spPr>
          <a:xfrm>
            <a:off x="1371600" y="2615184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 0,22 м/с, плавный разгон и торможение перед целью</a:t>
            </a:r>
            <a:endParaRPr lang="en-US" sz="1300" dirty="0"/>
          </a:p>
        </p:txBody>
      </p:sp>
      <p:sp>
        <p:nvSpPr>
          <p:cNvPr id="11" name="icon_bg_171"/>
          <p:cNvSpPr/>
          <p:nvPr/>
        </p:nvSpPr>
        <p:spPr>
          <a:xfrm>
            <a:off x="548640" y="3246120"/>
            <a:ext cx="594360" cy="59436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12" name="icon_17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1286" y="3388766"/>
            <a:ext cx="309067" cy="309067"/>
          </a:xfrm>
          <a:prstGeom prst="rect">
            <a:avLst/>
          </a:prstGeom>
        </p:spPr>
      </p:pic>
      <p:sp>
        <p:nvSpPr>
          <p:cNvPr id="13" name="text_173"/>
          <p:cNvSpPr txBox="1"/>
          <p:nvPr/>
        </p:nvSpPr>
        <p:spPr>
          <a:xfrm>
            <a:off x="1371600" y="3227832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Страховка по лидару</a:t>
            </a:r>
            <a:endParaRPr lang="en-US" sz="1600" dirty="0"/>
          </a:p>
        </p:txBody>
      </p:sp>
      <p:sp>
        <p:nvSpPr>
          <p:cNvPr id="14" name="text_174"/>
          <p:cNvSpPr txBox="1"/>
          <p:nvPr/>
        </p:nvSpPr>
        <p:spPr>
          <a:xfrm>
            <a:off x="1371600" y="3575304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впереди &lt; 0,35 м — сбавить, &lt; 0,16 м — стоп</a:t>
            </a:r>
            <a:endParaRPr lang="en-US" sz="1300" dirty="0"/>
          </a:p>
        </p:txBody>
      </p:sp>
      <p:sp>
        <p:nvSpPr>
          <p:cNvPr id="15" name="icon_bg_175"/>
          <p:cNvSpPr/>
          <p:nvPr/>
        </p:nvSpPr>
        <p:spPr>
          <a:xfrm>
            <a:off x="548640" y="4206240"/>
            <a:ext cx="594360" cy="594360"/>
          </a:xfrm>
          <a:prstGeom prst="ellipse">
            <a:avLst/>
          </a:prstGeom>
          <a:solidFill>
            <a:schemeClr val="tx1"/>
          </a:solidFill>
          <a:ln/>
        </p:spPr>
      </p:sp>
      <p:pic>
        <p:nvPicPr>
          <p:cNvPr id="16" name="icon_176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1286" y="4348886"/>
            <a:ext cx="309067" cy="309067"/>
          </a:xfrm>
          <a:prstGeom prst="rect">
            <a:avLst/>
          </a:prstGeom>
        </p:spPr>
      </p:pic>
      <p:sp>
        <p:nvSpPr>
          <p:cNvPr id="17" name="text_177"/>
          <p:cNvSpPr txBox="1"/>
          <p:nvPr/>
        </p:nvSpPr>
        <p:spPr>
          <a:xfrm>
            <a:off x="1371600" y="4187952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Перепланирование</a:t>
            </a:r>
            <a:endParaRPr lang="en-US" sz="1600" dirty="0"/>
          </a:p>
        </p:txBody>
      </p:sp>
      <p:sp>
        <p:nvSpPr>
          <p:cNvPr id="18" name="text_178"/>
          <p:cNvSpPr txBox="1"/>
          <p:nvPr/>
        </p:nvSpPr>
        <p:spPr>
          <a:xfrm>
            <a:off x="1371600" y="4535424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нет прогресса 15 с — новый путь, до 3 попыток</a:t>
            </a:r>
            <a:endParaRPr lang="en-US" sz="1300" dirty="0"/>
          </a:p>
        </p:txBody>
      </p:sp>
      <p:sp>
        <p:nvSpPr>
          <p:cNvPr id="19" name="icon_bg_179"/>
          <p:cNvSpPr/>
          <p:nvPr/>
        </p:nvSpPr>
        <p:spPr>
          <a:xfrm>
            <a:off x="548640" y="5166360"/>
            <a:ext cx="594360" cy="594360"/>
          </a:xfrm>
          <a:prstGeom prst="ellipse">
            <a:avLst/>
          </a:prstGeom>
          <a:solidFill>
            <a:schemeClr val="accent4"/>
          </a:solidFill>
          <a:ln/>
        </p:spPr>
      </p:sp>
      <p:pic>
        <p:nvPicPr>
          <p:cNvPr id="20" name="icon_180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1286" y="5309006"/>
            <a:ext cx="309067" cy="309067"/>
          </a:xfrm>
          <a:prstGeom prst="rect">
            <a:avLst/>
          </a:prstGeom>
        </p:spPr>
      </p:pic>
      <p:sp>
        <p:nvSpPr>
          <p:cNvPr id="21" name="text_181"/>
          <p:cNvSpPr txBox="1"/>
          <p:nvPr/>
        </p:nvSpPr>
        <p:spPr>
          <a:xfrm>
            <a:off x="1371600" y="5148072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Бюджет батареи</a:t>
            </a:r>
            <a:endParaRPr lang="en-US" sz="1600" dirty="0"/>
          </a:p>
        </p:txBody>
      </p:sp>
      <p:sp>
        <p:nvSpPr>
          <p:cNvPr id="22" name="text_182"/>
          <p:cNvSpPr txBox="1"/>
          <p:nvPr/>
        </p:nvSpPr>
        <p:spPr>
          <a:xfrm>
            <a:off x="1371600" y="5495544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перед поездкой: хватит ли заряда доехать и вернуться (×1,3)</a:t>
            </a:r>
            <a:endParaRPr lang="en-US" sz="1300" dirty="0"/>
          </a:p>
        </p:txBody>
      </p:sp>
      <p:sp>
        <p:nvSpPr>
          <p:cNvPr id="23" name="card_183"/>
          <p:cNvSpPr/>
          <p:nvPr/>
        </p:nvSpPr>
        <p:spPr>
          <a:xfrm>
            <a:off x="6720840" y="1325880"/>
            <a:ext cx="4922215" cy="4709160"/>
          </a:xfrm>
          <a:prstGeom prst="roundRect">
            <a:avLst>
              <a:gd name="adj" fmla="val 1553"/>
            </a:avLst>
          </a:prstGeom>
          <a:solidFill>
            <a:schemeClr val="bg2"/>
          </a:solidFill>
          <a:ln/>
        </p:spPr>
      </p:sp>
      <p:sp>
        <p:nvSpPr>
          <p:cNvPr id="24" name="text_184"/>
          <p:cNvSpPr txBox="1"/>
          <p:nvPr/>
        </p:nvSpPr>
        <p:spPr>
          <a:xfrm>
            <a:off x="6995160" y="150876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Ошибка позиции у образца</a:t>
            </a:r>
            <a:endParaRPr lang="en-US" sz="1800" dirty="0"/>
          </a:p>
        </p:txBody>
      </p:sp>
      <p:sp>
        <p:nvSpPr>
          <p:cNvPr id="25" name="text_185"/>
          <p:cNvSpPr txBox="1"/>
          <p:nvPr/>
        </p:nvSpPr>
        <p:spPr>
          <a:xfrm>
            <a:off x="6995160" y="2057400"/>
            <a:ext cx="22860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0,28 м</a:t>
            </a:r>
            <a:endParaRPr lang="en-US" sz="40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только колёсная одометрия</a:t>
            </a:r>
            <a:endParaRPr lang="en-US" sz="4000" dirty="0"/>
          </a:p>
        </p:txBody>
      </p:sp>
      <p:sp>
        <p:nvSpPr>
          <p:cNvPr id="26" name="text_186"/>
          <p:cNvSpPr txBox="1"/>
          <p:nvPr/>
        </p:nvSpPr>
        <p:spPr>
          <a:xfrm>
            <a:off x="9281160" y="2057400"/>
            <a:ext cx="22860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0,05 м</a:t>
            </a:r>
            <a:endParaRPr lang="en-US" sz="40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одометрия + курс по IMU</a:t>
            </a:r>
            <a:endParaRPr lang="en-US" sz="4000" dirty="0"/>
          </a:p>
        </p:txBody>
      </p:sp>
      <p:sp>
        <p:nvSpPr>
          <p:cNvPr id="27" name="text_187"/>
          <p:cNvSpPr txBox="1"/>
          <p:nvPr/>
        </p:nvSpPr>
        <p:spPr>
          <a:xfrm>
            <a:off x="6995160" y="3657600"/>
            <a:ext cx="44348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Курс одометрии уплывает на разворотах: к концу пути 0,1 рад — а радиус сбора всего 0,30 м</a:t>
            </a:r>
            <a:endParaRPr lang="en-US" sz="14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Путь берём из одометрии, курс — из IMU</a:t>
            </a:r>
            <a:endParaRPr lang="en-US" sz="14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Агент публикует поправку map→odom: в RViz робот и лидар стоят на карте точно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LLM-планировщик: кто что делает</a:t>
            </a:r>
            <a:endParaRPr lang="en-US" sz="3000" dirty="0"/>
          </a:p>
        </p:txBody>
      </p:sp>
      <p:sp>
        <p:nvSpPr>
          <p:cNvPr id="3" name="card_188"/>
          <p:cNvSpPr/>
          <p:nvPr/>
        </p:nvSpPr>
        <p:spPr>
          <a:xfrm>
            <a:off x="548640" y="1280160"/>
            <a:ext cx="5410048" cy="2697480"/>
          </a:xfrm>
          <a:prstGeom prst="roundRect">
            <a:avLst>
              <a:gd name="adj" fmla="val 2712"/>
            </a:avLst>
          </a:prstGeom>
          <a:solidFill>
            <a:schemeClr val="bg2"/>
          </a:solidFill>
          <a:ln/>
        </p:spPr>
      </p:sp>
      <p:sp>
        <p:nvSpPr>
          <p:cNvPr id="4" name="icon_bg_189"/>
          <p:cNvSpPr/>
          <p:nvPr/>
        </p:nvSpPr>
        <p:spPr>
          <a:xfrm>
            <a:off x="822960" y="1463040"/>
            <a:ext cx="594360" cy="59436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5" name="icon_19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5606" y="1605686"/>
            <a:ext cx="309067" cy="309067"/>
          </a:xfrm>
          <a:prstGeom prst="rect">
            <a:avLst/>
          </a:prstGeom>
        </p:spPr>
      </p:pic>
      <p:sp>
        <p:nvSpPr>
          <p:cNvPr id="6" name="text_191"/>
          <p:cNvSpPr txBox="1"/>
          <p:nvPr/>
        </p:nvSpPr>
        <p:spPr>
          <a:xfrm>
            <a:off x="1600200" y="1572768"/>
            <a:ext cx="412988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Алгоритм считает</a:t>
            </a:r>
            <a:endParaRPr lang="en-US" sz="1900" dirty="0"/>
          </a:p>
        </p:txBody>
      </p:sp>
      <p:sp>
        <p:nvSpPr>
          <p:cNvPr id="7" name="text_192"/>
          <p:cNvSpPr txBox="1"/>
          <p:nvPr/>
        </p:nvSpPr>
        <p:spPr>
          <a:xfrm>
            <a:off x="822960" y="2240280"/>
            <a:ext cx="4861408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путь A* и расход батареи на каждый переезд</a:t>
            </a:r>
            <a:endParaRPr lang="en-US" sz="15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расход на метр — по реальным замерам</a:t>
            </a:r>
            <a:endParaRPr lang="en-US" sz="15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лучший порядок обхода для 5, 4, 3… образцов</a:t>
            </a:r>
            <a:endParaRPr lang="en-US" sz="15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проверяет план модели и страхует батарею</a:t>
            </a:r>
            <a:endParaRPr lang="en-US" sz="1500" dirty="0"/>
          </a:p>
        </p:txBody>
      </p:sp>
      <p:sp>
        <p:nvSpPr>
          <p:cNvPr id="8" name="card_193"/>
          <p:cNvSpPr/>
          <p:nvPr/>
        </p:nvSpPr>
        <p:spPr>
          <a:xfrm>
            <a:off x="6233008" y="1280160"/>
            <a:ext cx="5410048" cy="2697480"/>
          </a:xfrm>
          <a:prstGeom prst="roundRect">
            <a:avLst>
              <a:gd name="adj" fmla="val 2712"/>
            </a:avLst>
          </a:prstGeom>
          <a:solidFill>
            <a:schemeClr val="bg2"/>
          </a:solidFill>
          <a:ln/>
        </p:spPr>
      </p:sp>
      <p:sp>
        <p:nvSpPr>
          <p:cNvPr id="9" name="icon_bg_194"/>
          <p:cNvSpPr/>
          <p:nvPr/>
        </p:nvSpPr>
        <p:spPr>
          <a:xfrm>
            <a:off x="6507328" y="1463040"/>
            <a:ext cx="594360" cy="59436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10" name="icon_195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49974" y="1605686"/>
            <a:ext cx="309067" cy="309067"/>
          </a:xfrm>
          <a:prstGeom prst="rect">
            <a:avLst/>
          </a:prstGeom>
        </p:spPr>
      </p:pic>
      <p:sp>
        <p:nvSpPr>
          <p:cNvPr id="11" name="text_196"/>
          <p:cNvSpPr txBox="1"/>
          <p:nvPr/>
        </p:nvSpPr>
        <p:spPr>
          <a:xfrm>
            <a:off x="7284568" y="1572768"/>
            <a:ext cx="412988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Модель решает и объясняет</a:t>
            </a:r>
            <a:endParaRPr lang="en-US" sz="1900" dirty="0"/>
          </a:p>
        </p:txBody>
      </p:sp>
      <p:sp>
        <p:nvSpPr>
          <p:cNvPr id="12" name="text_197"/>
          <p:cNvSpPr txBox="1"/>
          <p:nvPr/>
        </p:nvSpPr>
        <p:spPr>
          <a:xfrm>
            <a:off x="6507328" y="2240280"/>
            <a:ext cx="4861408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какие образцы брать, какой вариант выбрать</a:t>
            </a:r>
            <a:endParaRPr lang="en-US" sz="15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когда возвращаться на базу</a:t>
            </a:r>
            <a:endParaRPr lang="en-US" sz="15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как реагировать: дорогой переезд, сбой, штраф</a:t>
            </a:r>
            <a:endParaRPr lang="en-US" sz="15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почему — одна-две фразы по-русски</a:t>
            </a:r>
            <a:endParaRPr lang="en-US" sz="1500" dirty="0"/>
          </a:p>
        </p:txBody>
      </p:sp>
      <p:sp>
        <p:nvSpPr>
          <p:cNvPr id="13" name="llm_flow_198"/>
          <p:cNvSpPr/>
          <p:nvPr/>
        </p:nvSpPr>
        <p:spPr>
          <a:xfrm>
            <a:off x="548640" y="4251960"/>
            <a:ext cx="2057400" cy="1737360"/>
          </a:xfrm>
          <a:prstGeom prst="roundRect">
            <a:avLst>
              <a:gd name="adj" fmla="val 4211"/>
            </a:avLst>
          </a:prstGeom>
          <a:solidFill>
            <a:schemeClr val="tx1"/>
          </a:solidFill>
          <a:ln/>
        </p:spPr>
      </p:sp>
      <p:sp>
        <p:nvSpPr>
          <p:cNvPr id="14" name="text_199"/>
          <p:cNvSpPr txBox="1"/>
          <p:nvPr/>
        </p:nvSpPr>
        <p:spPr>
          <a:xfrm>
            <a:off x="685800" y="4389120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Промпт</a:t>
            </a:r>
            <a:endParaRPr lang="en-US" sz="1600" dirty="0"/>
          </a:p>
        </p:txBody>
      </p:sp>
      <p:sp>
        <p:nvSpPr>
          <p:cNvPr id="15" name="text_200"/>
          <p:cNvSpPr txBox="1"/>
          <p:nvPr/>
        </p:nvSpPr>
        <p:spPr>
          <a:xfrm>
            <a:off x="685800" y="4846320"/>
            <a:ext cx="1783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миссия, состояние, таблица расходов, варианты</a:t>
            </a:r>
            <a:endParaRPr lang="en-US" sz="1300" dirty="0"/>
          </a:p>
        </p:txBody>
      </p:sp>
      <p:sp>
        <p:nvSpPr>
          <p:cNvPr id="16" name="llm_flow_201"/>
          <p:cNvSpPr/>
          <p:nvPr/>
        </p:nvSpPr>
        <p:spPr>
          <a:xfrm>
            <a:off x="2798064" y="4251960"/>
            <a:ext cx="2057400" cy="1737360"/>
          </a:xfrm>
          <a:prstGeom prst="roundRect">
            <a:avLst>
              <a:gd name="adj" fmla="val 4211"/>
            </a:avLst>
          </a:prstGeom>
          <a:solidFill>
            <a:schemeClr val="accent1"/>
          </a:solidFill>
          <a:ln/>
        </p:spPr>
      </p:sp>
      <p:sp>
        <p:nvSpPr>
          <p:cNvPr id="17" name="text_202"/>
          <p:cNvSpPr txBox="1"/>
          <p:nvPr/>
        </p:nvSpPr>
        <p:spPr>
          <a:xfrm>
            <a:off x="2935224" y="4389120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Ответ JSON</a:t>
            </a:r>
            <a:endParaRPr lang="en-US" sz="1600" dirty="0"/>
          </a:p>
        </p:txBody>
      </p:sp>
      <p:sp>
        <p:nvSpPr>
          <p:cNvPr id="18" name="text_203"/>
          <p:cNvSpPr txBox="1"/>
          <p:nvPr/>
        </p:nvSpPr>
        <p:spPr>
          <a:xfrm>
            <a:off x="2935224" y="4846320"/>
            <a:ext cx="1783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мысль + план из id целей</a:t>
            </a:r>
            <a:endParaRPr lang="en-US" sz="1300" dirty="0"/>
          </a:p>
        </p:txBody>
      </p:sp>
      <p:sp>
        <p:nvSpPr>
          <p:cNvPr id="19" name="llm_flow_204"/>
          <p:cNvSpPr/>
          <p:nvPr/>
        </p:nvSpPr>
        <p:spPr>
          <a:xfrm>
            <a:off x="5047488" y="4251960"/>
            <a:ext cx="2057400" cy="1737360"/>
          </a:xfrm>
          <a:prstGeom prst="roundRect">
            <a:avLst>
              <a:gd name="adj" fmla="val 4211"/>
            </a:avLst>
          </a:prstGeom>
          <a:solidFill>
            <a:schemeClr val="tx1"/>
          </a:solidFill>
          <a:ln/>
        </p:spPr>
      </p:sp>
      <p:sp>
        <p:nvSpPr>
          <p:cNvPr id="20" name="text_205"/>
          <p:cNvSpPr txBox="1"/>
          <p:nvPr/>
        </p:nvSpPr>
        <p:spPr>
          <a:xfrm>
            <a:off x="5184648" y="4389120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Проверка</a:t>
            </a:r>
            <a:endParaRPr lang="en-US" sz="1600" dirty="0"/>
          </a:p>
        </p:txBody>
      </p:sp>
      <p:sp>
        <p:nvSpPr>
          <p:cNvPr id="21" name="text_206"/>
          <p:cNvSpPr txBox="1"/>
          <p:nvPr/>
        </p:nvSpPr>
        <p:spPr>
          <a:xfrm>
            <a:off x="5184648" y="4846320"/>
            <a:ext cx="1783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формат, цели, бюджет батареи</a:t>
            </a:r>
            <a:endParaRPr lang="en-US" sz="1300" dirty="0"/>
          </a:p>
        </p:txBody>
      </p:sp>
      <p:sp>
        <p:nvSpPr>
          <p:cNvPr id="22" name="llm_flow_207"/>
          <p:cNvSpPr/>
          <p:nvPr/>
        </p:nvSpPr>
        <p:spPr>
          <a:xfrm>
            <a:off x="7296912" y="4251960"/>
            <a:ext cx="2057400" cy="1737360"/>
          </a:xfrm>
          <a:prstGeom prst="roundRect">
            <a:avLst>
              <a:gd name="adj" fmla="val 4211"/>
            </a:avLst>
          </a:prstGeom>
          <a:solidFill>
            <a:schemeClr val="accent1"/>
          </a:solidFill>
          <a:ln/>
        </p:spPr>
      </p:sp>
      <p:sp>
        <p:nvSpPr>
          <p:cNvPr id="23" name="text_208"/>
          <p:cNvSpPr txBox="1"/>
          <p:nvPr/>
        </p:nvSpPr>
        <p:spPr>
          <a:xfrm>
            <a:off x="7434072" y="4389120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Ошибка?</a:t>
            </a:r>
            <a:endParaRPr lang="en-US" sz="1600" dirty="0"/>
          </a:p>
        </p:txBody>
      </p:sp>
      <p:sp>
        <p:nvSpPr>
          <p:cNvPr id="24" name="text_209"/>
          <p:cNvSpPr txBox="1"/>
          <p:nvPr/>
        </p:nvSpPr>
        <p:spPr>
          <a:xfrm>
            <a:off x="7434072" y="4846320"/>
            <a:ext cx="1783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текст ошибки модели, до 2 повторов</a:t>
            </a:r>
            <a:endParaRPr lang="en-US" sz="1300" dirty="0"/>
          </a:p>
        </p:txBody>
      </p:sp>
      <p:sp>
        <p:nvSpPr>
          <p:cNvPr id="25" name="llm_flow_210"/>
          <p:cNvSpPr/>
          <p:nvPr/>
        </p:nvSpPr>
        <p:spPr>
          <a:xfrm>
            <a:off x="9546336" y="4251960"/>
            <a:ext cx="2057400" cy="1737360"/>
          </a:xfrm>
          <a:prstGeom prst="roundRect">
            <a:avLst>
              <a:gd name="adj" fmla="val 4211"/>
            </a:avLst>
          </a:prstGeom>
          <a:solidFill>
            <a:schemeClr val="accent3"/>
          </a:solidFill>
          <a:ln/>
        </p:spPr>
      </p:sp>
      <p:sp>
        <p:nvSpPr>
          <p:cNvPr id="26" name="text_211"/>
          <p:cNvSpPr txBox="1"/>
          <p:nvPr/>
        </p:nvSpPr>
        <p:spPr>
          <a:xfrm>
            <a:off x="9683496" y="4389120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Резерв</a:t>
            </a:r>
            <a:endParaRPr lang="en-US" sz="1600" dirty="0"/>
          </a:p>
        </p:txBody>
      </p:sp>
      <p:sp>
        <p:nvSpPr>
          <p:cNvPr id="27" name="text_212"/>
          <p:cNvSpPr txBox="1"/>
          <p:nvPr/>
        </p:nvSpPr>
        <p:spPr>
          <a:xfrm>
            <a:off x="9683496" y="4846320"/>
            <a:ext cx="1783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вариант A от алгоритма, робот не ждёт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Почему так: два эксперимента с моделями</a:t>
            </a:r>
            <a:endParaRPr lang="en-US" sz="3000" dirty="0"/>
          </a:p>
        </p:txBody>
      </p:sp>
      <p:sp>
        <p:nvSpPr>
          <p:cNvPr id="3" name="card_213"/>
          <p:cNvSpPr/>
          <p:nvPr/>
        </p:nvSpPr>
        <p:spPr>
          <a:xfrm>
            <a:off x="548640" y="1280160"/>
            <a:ext cx="5410048" cy="2743200"/>
          </a:xfrm>
          <a:prstGeom prst="roundRect">
            <a:avLst>
              <a:gd name="adj" fmla="val 2667"/>
            </a:avLst>
          </a:prstGeom>
          <a:solidFill>
            <a:schemeClr val="bg2"/>
          </a:solidFill>
          <a:ln/>
        </p:spPr>
      </p:sp>
      <p:sp>
        <p:nvSpPr>
          <p:cNvPr id="4" name="text_214"/>
          <p:cNvSpPr txBox="1"/>
          <p:nvPr/>
        </p:nvSpPr>
        <p:spPr>
          <a:xfrm>
            <a:off x="822960" y="1417320"/>
            <a:ext cx="486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Модель считает геометрию сама</a:t>
            </a:r>
            <a:endParaRPr lang="en-US" sz="1700" dirty="0"/>
          </a:p>
        </p:txBody>
      </p:sp>
      <p:sp>
        <p:nvSpPr>
          <p:cNvPr id="5" name="text_215"/>
          <p:cNvSpPr txBox="1"/>
          <p:nvPr/>
        </p:nvSpPr>
        <p:spPr>
          <a:xfrm>
            <a:off x="822960" y="1874520"/>
            <a:ext cx="486140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chemeClr val="accent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 из 6</a:t>
            </a:r>
            <a:pPr indent="0" marL="0">
              <a:buNone/>
            </a:pPr>
            <a:r>
              <a:rPr lang="en-US" sz="34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→  </a:t>
            </a:r>
            <a:pPr indent="0" marL="0">
              <a:buNone/>
            </a:pPr>
            <a:r>
              <a:rPr lang="en-US" sz="34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из 6</a:t>
            </a:r>
            <a:endParaRPr lang="en-US" sz="3400" dirty="0"/>
          </a:p>
        </p:txBody>
      </p:sp>
      <p:sp>
        <p:nvSpPr>
          <p:cNvPr id="6" name="text_216"/>
          <p:cNvSpPr txBox="1"/>
          <p:nvPr/>
        </p:nvSpPr>
        <p:spPr>
          <a:xfrm>
            <a:off x="822960" y="2606040"/>
            <a:ext cx="48614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моделей дали ответ</a:t>
            </a:r>
            <a:endParaRPr lang="en-US" sz="1300" dirty="0"/>
          </a:p>
        </p:txBody>
      </p:sp>
      <p:sp>
        <p:nvSpPr>
          <p:cNvPr id="7" name="text_217"/>
          <p:cNvSpPr txBox="1"/>
          <p:nvPr/>
        </p:nvSpPr>
        <p:spPr>
          <a:xfrm>
            <a:off x="822960" y="2971800"/>
            <a:ext cx="486140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координаты и «обойди зону» → 37–77 с рассуждений без ответа; таблица расходов от A* → корректный JSON за 5–7 с</a:t>
            </a:r>
            <a:endParaRPr lang="en-US" sz="1300" dirty="0"/>
          </a:p>
        </p:txBody>
      </p:sp>
      <p:sp>
        <p:nvSpPr>
          <p:cNvPr id="8" name="card_218"/>
          <p:cNvSpPr/>
          <p:nvPr/>
        </p:nvSpPr>
        <p:spPr>
          <a:xfrm>
            <a:off x="6233008" y="1280160"/>
            <a:ext cx="5410048" cy="2743200"/>
          </a:xfrm>
          <a:prstGeom prst="roundRect">
            <a:avLst>
              <a:gd name="adj" fmla="val 2667"/>
            </a:avLst>
          </a:prstGeom>
          <a:solidFill>
            <a:schemeClr val="bg2"/>
          </a:solidFill>
          <a:ln/>
        </p:spPr>
      </p:sp>
      <p:sp>
        <p:nvSpPr>
          <p:cNvPr id="9" name="text_219"/>
          <p:cNvSpPr txBox="1"/>
          <p:nvPr/>
        </p:nvSpPr>
        <p:spPr>
          <a:xfrm>
            <a:off x="6507328" y="1417320"/>
            <a:ext cx="486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Модель перебирает комбинации</a:t>
            </a:r>
            <a:endParaRPr lang="en-US" sz="1700" dirty="0"/>
          </a:p>
        </p:txBody>
      </p:sp>
      <p:sp>
        <p:nvSpPr>
          <p:cNvPr id="10" name="text_220"/>
          <p:cNvSpPr txBox="1"/>
          <p:nvPr/>
        </p:nvSpPr>
        <p:spPr>
          <a:xfrm>
            <a:off x="6507328" y="1874520"/>
            <a:ext cx="486140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chemeClr val="accent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× 30 с</a:t>
            </a:r>
            <a:pPr indent="0" marL="0">
              <a:buNone/>
            </a:pPr>
            <a:r>
              <a:rPr lang="en-US" sz="34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→  </a:t>
            </a:r>
            <a:pPr indent="0" marL="0">
              <a:buNone/>
            </a:pPr>
            <a:r>
              <a:rPr lang="en-US" sz="34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4,5 с</a:t>
            </a:r>
            <a:endParaRPr lang="en-US" sz="3400" dirty="0"/>
          </a:p>
        </p:txBody>
      </p:sp>
      <p:sp>
        <p:nvSpPr>
          <p:cNvPr id="11" name="text_221"/>
          <p:cNvSpPr txBox="1"/>
          <p:nvPr/>
        </p:nvSpPr>
        <p:spPr>
          <a:xfrm>
            <a:off x="6507328" y="2606040"/>
            <a:ext cx="48614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 решение при батарее 10</a:t>
            </a:r>
            <a:endParaRPr lang="en-US" sz="1300" dirty="0"/>
          </a:p>
        </p:txBody>
      </p:sp>
      <p:sp>
        <p:nvSpPr>
          <p:cNvPr id="12" name="text_222"/>
          <p:cNvSpPr txBox="1"/>
          <p:nvPr/>
        </p:nvSpPr>
        <p:spPr>
          <a:xfrm>
            <a:off x="6507328" y="2971800"/>
            <a:ext cx="486140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жёсткий бюджет → модель упиралась в лимит токенов; готовые варианты от алгоритма → 278 токенов и верный выбор</a:t>
            </a:r>
            <a:endParaRPr lang="en-US" sz="1300" dirty="0"/>
          </a:p>
        </p:txBody>
      </p:sp>
      <p:sp>
        <p:nvSpPr>
          <p:cNvPr id="13" name="llm_example_223"/>
          <p:cNvSpPr/>
          <p:nvPr/>
        </p:nvSpPr>
        <p:spPr>
          <a:xfrm>
            <a:off x="548640" y="4251960"/>
            <a:ext cx="11094415" cy="1783080"/>
          </a:xfrm>
          <a:prstGeom prst="roundRect">
            <a:avLst>
              <a:gd name="adj" fmla="val 4103"/>
            </a:avLst>
          </a:prstGeom>
          <a:solidFill>
            <a:schemeClr val="accent6"/>
          </a:solidFill>
          <a:ln/>
        </p:spPr>
      </p:sp>
      <p:sp>
        <p:nvSpPr>
          <p:cNvPr id="14" name="text_224"/>
          <p:cNvSpPr txBox="1"/>
          <p:nvPr/>
        </p:nvSpPr>
        <p:spPr>
          <a:xfrm>
            <a:off x="822960" y="438912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Реальный ответ модели, Gazebo, medium, батарея 10:</a:t>
            </a:r>
            <a:endParaRPr lang="en-US" sz="1300" dirty="0"/>
          </a:p>
        </p:txBody>
      </p:sp>
      <p:sp>
        <p:nvSpPr>
          <p:cNvPr id="15" name="text_225"/>
          <p:cNvSpPr txBox="1"/>
          <p:nvPr/>
        </p:nvSpPr>
        <p:spPr>
          <a:xfrm>
            <a:off x="822960" y="475488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«Выбираю вариант A: он даёт максимум образцов (3) и укладывается в доступный бюджет с запасом 1.18 сверх резерва»</a:t>
            </a:r>
            <a:endParaRPr lang="en-US" sz="1500" dirty="0"/>
          </a:p>
        </p:txBody>
      </p:sp>
      <p:sp>
        <p:nvSpPr>
          <p:cNvPr id="16" name="text_226"/>
          <p:cNvSpPr txBox="1"/>
          <p:nvPr/>
        </p:nvSpPr>
        <p:spPr>
          <a:xfrm>
            <a:off x="822960" y="539496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plan: goto s1 · collect · goto s3 · collect · goto s5 · collect · return · finish   →   3 из 5 образцов, возврат, 0 штрафов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Реальные результаты</a:t>
            </a:r>
            <a:endParaRPr lang="en-US" sz="3000" dirty="0"/>
          </a:p>
        </p:txBody>
      </p:sp>
      <p:sp>
        <p:nvSpPr>
          <p:cNvPr id="3" name="card_227"/>
          <p:cNvSpPr/>
          <p:nvPr/>
        </p:nvSpPr>
        <p:spPr>
          <a:xfrm>
            <a:off x="548640" y="1280160"/>
            <a:ext cx="2606040" cy="1600200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/>
        </p:spPr>
      </p:sp>
      <p:sp>
        <p:nvSpPr>
          <p:cNvPr id="4" name="text_228"/>
          <p:cNvSpPr txBox="1"/>
          <p:nvPr/>
        </p:nvSpPr>
        <p:spPr>
          <a:xfrm>
            <a:off x="731520" y="1371600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из 13</a:t>
            </a:r>
            <a:endParaRPr lang="en-US" sz="3600" dirty="0"/>
          </a:p>
        </p:txBody>
      </p:sp>
      <p:sp>
        <p:nvSpPr>
          <p:cNvPr id="5" name="text_229"/>
          <p:cNvSpPr txBox="1"/>
          <p:nvPr/>
        </p:nvSpPr>
        <p:spPr>
          <a:xfrm>
            <a:off x="731520" y="214884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образцов в Gazebo при полном заряде</a:t>
            </a:r>
            <a:endParaRPr lang="en-US" sz="1300" dirty="0"/>
          </a:p>
        </p:txBody>
      </p:sp>
      <p:sp>
        <p:nvSpPr>
          <p:cNvPr id="6" name="card_230"/>
          <p:cNvSpPr/>
          <p:nvPr/>
        </p:nvSpPr>
        <p:spPr>
          <a:xfrm>
            <a:off x="3355848" y="1280160"/>
            <a:ext cx="2606040" cy="1600200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/>
        </p:spPr>
      </p:sp>
      <p:sp>
        <p:nvSpPr>
          <p:cNvPr id="7" name="text_231"/>
          <p:cNvSpPr txBox="1"/>
          <p:nvPr/>
        </p:nvSpPr>
        <p:spPr>
          <a:xfrm>
            <a:off x="3538728" y="1371600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3600" dirty="0"/>
          </a:p>
        </p:txBody>
      </p:sp>
      <p:sp>
        <p:nvSpPr>
          <p:cNvPr id="8" name="text_232"/>
          <p:cNvSpPr txBox="1"/>
          <p:nvPr/>
        </p:nvSpPr>
        <p:spPr>
          <a:xfrm>
            <a:off x="3538728" y="214884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штрафов: столкновений и ложных сборов</a:t>
            </a:r>
            <a:endParaRPr lang="en-US" sz="1300" dirty="0"/>
          </a:p>
        </p:txBody>
      </p:sp>
      <p:sp>
        <p:nvSpPr>
          <p:cNvPr id="9" name="card_233"/>
          <p:cNvSpPr/>
          <p:nvPr/>
        </p:nvSpPr>
        <p:spPr>
          <a:xfrm>
            <a:off x="6163056" y="1280160"/>
            <a:ext cx="2606040" cy="1600200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/>
        </p:spPr>
      </p:sp>
      <p:sp>
        <p:nvSpPr>
          <p:cNvPr id="10" name="text_234"/>
          <p:cNvSpPr txBox="1"/>
          <p:nvPr/>
        </p:nvSpPr>
        <p:spPr>
          <a:xfrm>
            <a:off x="6345936" y="1371600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 / 30</a:t>
            </a:r>
            <a:endParaRPr lang="en-US" sz="3600" dirty="0"/>
          </a:p>
        </p:txBody>
      </p:sp>
      <p:sp>
        <p:nvSpPr>
          <p:cNvPr id="11" name="text_235"/>
          <p:cNvSpPr txBox="1"/>
          <p:nvPr/>
        </p:nvSpPr>
        <p:spPr>
          <a:xfrm>
            <a:off x="6345936" y="214884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офлайн-миссий с возвратом на базу</a:t>
            </a:r>
            <a:endParaRPr lang="en-US" sz="1300" dirty="0"/>
          </a:p>
        </p:txBody>
      </p:sp>
      <p:sp>
        <p:nvSpPr>
          <p:cNvPr id="12" name="card_236"/>
          <p:cNvSpPr/>
          <p:nvPr/>
        </p:nvSpPr>
        <p:spPr>
          <a:xfrm>
            <a:off x="8970264" y="1280160"/>
            <a:ext cx="2606040" cy="1600200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/>
        </p:spPr>
      </p:sp>
      <p:sp>
        <p:nvSpPr>
          <p:cNvPr id="13" name="text_237"/>
          <p:cNvSpPr txBox="1"/>
          <p:nvPr/>
        </p:nvSpPr>
        <p:spPr>
          <a:xfrm>
            <a:off x="9153144" y="1371600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118</a:t>
            </a:r>
            <a:endParaRPr lang="en-US" sz="3600" dirty="0"/>
          </a:p>
        </p:txBody>
      </p:sp>
      <p:sp>
        <p:nvSpPr>
          <p:cNvPr id="14" name="text_238"/>
          <p:cNvSpPr txBox="1"/>
          <p:nvPr/>
        </p:nvSpPr>
        <p:spPr>
          <a:xfrm>
            <a:off x="9153144" y="214884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автотестов, в т.ч. с поддельной LLM</a:t>
            </a:r>
            <a:endParaRPr lang="en-US" sz="1300" dirty="0"/>
          </a:p>
        </p:txBody>
      </p:sp>
      <p:graphicFrame>
        <p:nvGraphicFramePr>
          <p:cNvPr id="12" name="results_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108960"/>
          <a:ext cx="11094415" cy="914400"/>
        </p:xfrm>
        <a:graphic>
          <a:graphicData uri="http://schemas.openxmlformats.org/drawingml/2006/table">
            <a:tbl>
              <a:tblPr/>
              <a:tblGrid>
                <a:gridCol w="2880360"/>
                <a:gridCol w="1188720"/>
                <a:gridCol w="1097280"/>
                <a:gridCol w="1051560"/>
                <a:gridCol w="1280160"/>
                <a:gridCol w="1005840"/>
                <a:gridCol w="868680"/>
                <a:gridCol w="804672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Прогон в Gazebo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Образцы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Возврат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Штрафы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Батарея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Путь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Время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Счёт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easy — миссия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/ 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да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48,4 / 60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8,4 м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 с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34,84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medium — миссия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 / 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да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46,8 / 60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11,7 м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 с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54,68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medium — LLM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 / 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да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48,5 / 60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8,5 м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89 с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54,85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medium, батарея 10 — LLM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/ 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да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 / 10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5,6 м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51 с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30,34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оператор: цель + 3 точки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да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48,3 / 60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8,3 м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123 с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16" name="text_239"/>
          <p:cNvSpPr txBox="1"/>
          <p:nvPr/>
        </p:nvSpPr>
        <p:spPr>
          <a:xfrm>
            <a:off x="548640" y="548640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Офлайн, по 5 случайных сценариев: с LLM путь на 36–46 % короче при полном заряде, а при малом заряде образцов в 2–3 раза больше (60 % против 20 %, 54 % против 23 %). Слабые места разобраны в резюме проекта.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Батарея выдаёт «дорогой» грунт</a:t>
            </a:r>
            <a:endParaRPr lang="en-US" sz="3000" dirty="0"/>
          </a:p>
        </p:txBody>
      </p:sp>
      <p:graphicFrame>
        <p:nvGraphicFramePr>
          <p:cNvPr id="3" name="drain_per_meter_chart" descr=""/>
          <p:cNvGraphicFramePr/>
          <p:nvPr/>
        </p:nvGraphicFramePr>
        <p:xfrm>
          <a:off x="548640" y="1234440"/>
          <a:ext cx="6583680" cy="4800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card_240"/>
          <p:cNvSpPr/>
          <p:nvPr/>
        </p:nvSpPr>
        <p:spPr>
          <a:xfrm>
            <a:off x="7406640" y="1325880"/>
            <a:ext cx="4236415" cy="4709160"/>
          </a:xfrm>
          <a:prstGeom prst="roundRect">
            <a:avLst>
              <a:gd name="adj" fmla="val 1727"/>
            </a:avLst>
          </a:prstGeom>
          <a:solidFill>
            <a:schemeClr val="bg2"/>
          </a:solidFill>
          <a:ln/>
        </p:spPr>
      </p:sp>
      <p:sp>
        <p:nvSpPr>
          <p:cNvPr id="5" name="text_241"/>
          <p:cNvSpPr txBox="1"/>
          <p:nvPr/>
        </p:nvSpPr>
        <p:spPr>
          <a:xfrm>
            <a:off x="7680960" y="1508760"/>
            <a:ext cx="3657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+53 %</a:t>
            </a:r>
            <a:endParaRPr lang="en-US" sz="4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расхода на метр на переезде через зону A (множитель ×3,4)</a:t>
            </a:r>
            <a:endParaRPr lang="en-US" sz="4400" dirty="0"/>
          </a:p>
        </p:txBody>
      </p:sp>
      <p:sp>
        <p:nvSpPr>
          <p:cNvPr id="6" name="text_242"/>
          <p:cNvSpPr txBox="1"/>
          <p:nvPr/>
        </p:nvSpPr>
        <p:spPr>
          <a:xfrm>
            <a:off x="7680960" y="3154680"/>
            <a:ext cx="370332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Гипотеза H1: карту стоимостей можно восстановить по расходу батареи на метр</a:t>
            </a:r>
            <a:endParaRPr lang="en-US" sz="14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Агент уже считает свой расход на метр и бюджет «туда + домой»</a:t>
            </a:r>
            <a:endParaRPr lang="en-US" sz="14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Дальше (уровень 3): обновлять слой грунтов по этим измерениям и объезжать дорогие зоны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Что сделано и что в работе</a:t>
            </a:r>
            <a:endParaRPr lang="en-US" sz="3000" dirty="0"/>
          </a:p>
        </p:txBody>
      </p:sp>
      <p:sp>
        <p:nvSpPr>
          <p:cNvPr id="3" name="card_243"/>
          <p:cNvSpPr/>
          <p:nvPr/>
        </p:nvSpPr>
        <p:spPr>
          <a:xfrm>
            <a:off x="548640" y="1325880"/>
            <a:ext cx="5410048" cy="4709160"/>
          </a:xfrm>
          <a:prstGeom prst="roundRect">
            <a:avLst>
              <a:gd name="adj" fmla="val 1553"/>
            </a:avLst>
          </a:prstGeom>
          <a:solidFill>
            <a:schemeClr val="bg2"/>
          </a:solidFill>
          <a:ln/>
        </p:spPr>
      </p:sp>
      <p:sp>
        <p:nvSpPr>
          <p:cNvPr id="4" name="icon_bg_244"/>
          <p:cNvSpPr/>
          <p:nvPr/>
        </p:nvSpPr>
        <p:spPr>
          <a:xfrm>
            <a:off x="822960" y="1554480"/>
            <a:ext cx="594360" cy="59436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5" name="icon_245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5606" y="1697126"/>
            <a:ext cx="309067" cy="309067"/>
          </a:xfrm>
          <a:prstGeom prst="rect">
            <a:avLst/>
          </a:prstGeom>
        </p:spPr>
      </p:pic>
      <p:sp>
        <p:nvSpPr>
          <p:cNvPr id="6" name="text_246"/>
          <p:cNvSpPr txBox="1"/>
          <p:nvPr/>
        </p:nvSpPr>
        <p:spPr>
          <a:xfrm>
            <a:off x="1600200" y="1664208"/>
            <a:ext cx="412988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Сделано и проверено</a:t>
            </a:r>
            <a:endParaRPr lang="en-US" sz="2000" dirty="0"/>
          </a:p>
        </p:txBody>
      </p:sp>
      <p:sp>
        <p:nvSpPr>
          <p:cNvPr id="7" name="text_247"/>
          <p:cNvSpPr txBox="1"/>
          <p:nvPr/>
        </p:nvSpPr>
        <p:spPr>
          <a:xfrm>
            <a:off x="822960" y="2423160"/>
            <a:ext cx="4861408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Среда: Gazebo + ROS 2 Jazzy, запуск одной командой</a:t>
            </a:r>
            <a:endParaRPr lang="en-US" sz="15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Свой судья и генератор сценариев easy / medium / hard</a:t>
            </a:r>
            <a:endParaRPr lang="en-US" sz="15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Карта стоимостей, A*, контроллер; одометрия + IMU</a:t>
            </a:r>
            <a:endParaRPr lang="en-US" sz="15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LLM-планировщик: проверка ответов, повтор, резервный план, перепланирование</a:t>
            </a:r>
            <a:endParaRPr lang="en-US" sz="15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Цели и маршрут из RViz; бюджет батареи; офлайн-симулятор</a:t>
            </a:r>
            <a:endParaRPr lang="en-US" sz="15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118 автотестов, журнал разработки DEVLOG</a:t>
            </a:r>
            <a:endParaRPr lang="en-US" sz="1500" dirty="0"/>
          </a:p>
        </p:txBody>
      </p:sp>
      <p:sp>
        <p:nvSpPr>
          <p:cNvPr id="8" name="card_248"/>
          <p:cNvSpPr/>
          <p:nvPr/>
        </p:nvSpPr>
        <p:spPr>
          <a:xfrm>
            <a:off x="6233008" y="1325880"/>
            <a:ext cx="5410048" cy="4709160"/>
          </a:xfrm>
          <a:prstGeom prst="roundRect">
            <a:avLst>
              <a:gd name="adj" fmla="val 1553"/>
            </a:avLst>
          </a:prstGeom>
          <a:solidFill>
            <a:schemeClr val="bg2"/>
          </a:solidFill>
          <a:ln/>
        </p:spPr>
      </p:sp>
      <p:sp>
        <p:nvSpPr>
          <p:cNvPr id="9" name="icon_bg_249"/>
          <p:cNvSpPr/>
          <p:nvPr/>
        </p:nvSpPr>
        <p:spPr>
          <a:xfrm>
            <a:off x="6507328" y="1554480"/>
            <a:ext cx="594360" cy="59436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10" name="icon_25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49974" y="1697126"/>
            <a:ext cx="309067" cy="309067"/>
          </a:xfrm>
          <a:prstGeom prst="rect">
            <a:avLst/>
          </a:prstGeom>
        </p:spPr>
      </p:pic>
      <p:sp>
        <p:nvSpPr>
          <p:cNvPr id="11" name="text_251"/>
          <p:cNvSpPr txBox="1"/>
          <p:nvPr/>
        </p:nvSpPr>
        <p:spPr>
          <a:xfrm>
            <a:off x="7284568" y="1664208"/>
            <a:ext cx="412988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 работе (9 октября)</a:t>
            </a:r>
            <a:endParaRPr lang="en-US" sz="2000" dirty="0"/>
          </a:p>
        </p:txBody>
      </p:sp>
      <p:sp>
        <p:nvSpPr>
          <p:cNvPr id="12" name="text_252"/>
          <p:cNvSpPr txBox="1"/>
          <p:nvPr/>
        </p:nvSpPr>
        <p:spPr>
          <a:xfrm>
            <a:off x="6507328" y="2423160"/>
            <a:ext cx="4861408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Уровень 3: поиск образцов по датчику вместо координат из сценария</a:t>
            </a:r>
            <a:endParaRPr lang="en-US" sz="15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Уровень 3: слой грунтов по замерам батареи, журнал гипотез</a:t>
            </a:r>
            <a:endParaRPr lang="en-US" sz="15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Уровень 4: распознать смену среды по расходу, штрафам, шуму — и перепланировать</a:t>
            </a:r>
            <a:endParaRPr lang="en-US" sz="15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Учёт опасных зон в карте стоимостей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Как мы использовали ИИ в разработке</a:t>
            </a:r>
            <a:endParaRPr lang="en-US" sz="3000" dirty="0"/>
          </a:p>
        </p:txBody>
      </p:sp>
      <p:sp>
        <p:nvSpPr>
          <p:cNvPr id="3" name="loop_step_253"/>
          <p:cNvSpPr/>
          <p:nvPr/>
        </p:nvSpPr>
        <p:spPr>
          <a:xfrm>
            <a:off x="548640" y="1325880"/>
            <a:ext cx="2057400" cy="685800"/>
          </a:xfrm>
          <a:prstGeom prst="roundRect">
            <a:avLst>
              <a:gd name="adj" fmla="val 10667"/>
            </a:avLst>
          </a:prstGeom>
          <a:solidFill>
            <a:schemeClr val="tx1"/>
          </a:solidFill>
          <a:ln/>
        </p:spPr>
      </p:sp>
      <p:sp>
        <p:nvSpPr>
          <p:cNvPr id="4" name="text_254"/>
          <p:cNvSpPr txBox="1"/>
          <p:nvPr/>
        </p:nvSpPr>
        <p:spPr>
          <a:xfrm>
            <a:off x="658368" y="1325880"/>
            <a:ext cx="18379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План и подтверждение</a:t>
            </a:r>
            <a:endParaRPr lang="en-US" sz="1400" dirty="0"/>
          </a:p>
        </p:txBody>
      </p:sp>
      <p:sp>
        <p:nvSpPr>
          <p:cNvPr id="5" name="loop_step_255"/>
          <p:cNvSpPr/>
          <p:nvPr/>
        </p:nvSpPr>
        <p:spPr>
          <a:xfrm>
            <a:off x="2798064" y="1325880"/>
            <a:ext cx="2057400" cy="685800"/>
          </a:xfrm>
          <a:prstGeom prst="roundRect">
            <a:avLst>
              <a:gd name="adj" fmla="val 10667"/>
            </a:avLst>
          </a:prstGeom>
          <a:solidFill>
            <a:schemeClr val="accent1"/>
          </a:solidFill>
          <a:ln/>
        </p:spPr>
      </p:sp>
      <p:sp>
        <p:nvSpPr>
          <p:cNvPr id="6" name="text_256"/>
          <p:cNvSpPr txBox="1"/>
          <p:nvPr/>
        </p:nvSpPr>
        <p:spPr>
          <a:xfrm>
            <a:off x="2907792" y="1325880"/>
            <a:ext cx="18379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Маленький шаг</a:t>
            </a:r>
            <a:endParaRPr lang="en-US" sz="1400" dirty="0"/>
          </a:p>
        </p:txBody>
      </p:sp>
      <p:sp>
        <p:nvSpPr>
          <p:cNvPr id="7" name="loop_step_257"/>
          <p:cNvSpPr/>
          <p:nvPr/>
        </p:nvSpPr>
        <p:spPr>
          <a:xfrm>
            <a:off x="5047488" y="1325880"/>
            <a:ext cx="2057400" cy="685800"/>
          </a:xfrm>
          <a:prstGeom prst="roundRect">
            <a:avLst>
              <a:gd name="adj" fmla="val 10667"/>
            </a:avLst>
          </a:prstGeom>
          <a:solidFill>
            <a:schemeClr val="tx1"/>
          </a:solidFill>
          <a:ln/>
        </p:spPr>
      </p:sp>
      <p:sp>
        <p:nvSpPr>
          <p:cNvPr id="8" name="text_258"/>
          <p:cNvSpPr txBox="1"/>
          <p:nvPr/>
        </p:nvSpPr>
        <p:spPr>
          <a:xfrm>
            <a:off x="5157216" y="1325880"/>
            <a:ext cx="18379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Запуск и доказательство</a:t>
            </a:r>
            <a:endParaRPr lang="en-US" sz="1400" dirty="0"/>
          </a:p>
        </p:txBody>
      </p:sp>
      <p:sp>
        <p:nvSpPr>
          <p:cNvPr id="9" name="loop_step_259"/>
          <p:cNvSpPr/>
          <p:nvPr/>
        </p:nvSpPr>
        <p:spPr>
          <a:xfrm>
            <a:off x="7296912" y="1325880"/>
            <a:ext cx="2057400" cy="685800"/>
          </a:xfrm>
          <a:prstGeom prst="roundRect">
            <a:avLst>
              <a:gd name="adj" fmla="val 10667"/>
            </a:avLst>
          </a:prstGeom>
          <a:solidFill>
            <a:schemeClr val="accent1"/>
          </a:solidFill>
          <a:ln/>
        </p:spPr>
      </p:sp>
      <p:sp>
        <p:nvSpPr>
          <p:cNvPr id="10" name="text_260"/>
          <p:cNvSpPr txBox="1"/>
          <p:nvPr/>
        </p:nvSpPr>
        <p:spPr>
          <a:xfrm>
            <a:off x="7406640" y="1325880"/>
            <a:ext cx="18379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Коммит</a:t>
            </a:r>
            <a:endParaRPr lang="en-US" sz="1400" dirty="0"/>
          </a:p>
        </p:txBody>
      </p:sp>
      <p:sp>
        <p:nvSpPr>
          <p:cNvPr id="11" name="loop_step_261"/>
          <p:cNvSpPr/>
          <p:nvPr/>
        </p:nvSpPr>
        <p:spPr>
          <a:xfrm>
            <a:off x="9546336" y="1325880"/>
            <a:ext cx="2057400" cy="685800"/>
          </a:xfrm>
          <a:prstGeom prst="roundRect">
            <a:avLst>
              <a:gd name="adj" fmla="val 10667"/>
            </a:avLst>
          </a:prstGeom>
          <a:solidFill>
            <a:schemeClr val="tx1"/>
          </a:solidFill>
          <a:ln/>
        </p:spPr>
      </p:sp>
      <p:sp>
        <p:nvSpPr>
          <p:cNvPr id="12" name="text_262"/>
          <p:cNvSpPr txBox="1"/>
          <p:nvPr/>
        </p:nvSpPr>
        <p:spPr>
          <a:xfrm>
            <a:off x="9656064" y="1325880"/>
            <a:ext cx="18379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Запись в DEVLOG</a:t>
            </a:r>
            <a:endParaRPr lang="en-US" sz="1400" dirty="0"/>
          </a:p>
        </p:txBody>
      </p:sp>
      <p:sp>
        <p:nvSpPr>
          <p:cNvPr id="13" name="card_263"/>
          <p:cNvSpPr/>
          <p:nvPr/>
        </p:nvSpPr>
        <p:spPr>
          <a:xfrm>
            <a:off x="548640" y="2286000"/>
            <a:ext cx="5486400" cy="3749040"/>
          </a:xfrm>
          <a:prstGeom prst="roundRect">
            <a:avLst>
              <a:gd name="adj" fmla="val 1951"/>
            </a:avLst>
          </a:prstGeom>
          <a:solidFill>
            <a:schemeClr val="bg2"/>
          </a:solidFill>
          <a:ln/>
        </p:spPr>
      </p:sp>
      <p:sp>
        <p:nvSpPr>
          <p:cNvPr id="14" name="bug_icon_bg_264"/>
          <p:cNvSpPr/>
          <p:nvPr/>
        </p:nvSpPr>
        <p:spPr>
          <a:xfrm>
            <a:off x="822960" y="2468880"/>
            <a:ext cx="548640" cy="54864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15" name="bug_icon_265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4634" y="2600554"/>
            <a:ext cx="285293" cy="285293"/>
          </a:xfrm>
          <a:prstGeom prst="rect">
            <a:avLst/>
          </a:prstGeom>
        </p:spPr>
      </p:pic>
      <p:sp>
        <p:nvSpPr>
          <p:cNvPr id="16" name="text_266"/>
          <p:cNvSpPr txBox="1"/>
          <p:nvPr/>
        </p:nvSpPr>
        <p:spPr>
          <a:xfrm>
            <a:off x="1554480" y="2560320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Ассистент нашёл и объяснил</a:t>
            </a:r>
            <a:endParaRPr lang="en-US" sz="1800" dirty="0"/>
          </a:p>
        </p:txBody>
      </p:sp>
      <p:sp>
        <p:nvSpPr>
          <p:cNvPr id="17" name="text_267"/>
          <p:cNvSpPr txBox="1"/>
          <p:nvPr/>
        </p:nvSpPr>
        <p:spPr>
          <a:xfrm>
            <a:off x="822960" y="3154680"/>
            <a:ext cx="498348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дрейф курса одометрии — сравнив с истинной позой из Gazebo</a:t>
            </a:r>
            <a:endParaRPr lang="en-US" sz="14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чёрный экран: шейдер карты RViz роняет драйвер видеокарты в WSL</a:t>
            </a:r>
            <a:endParaRPr lang="en-US" sz="14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мост ROS–Gazebo теряет имена объектов — читаем позу напрямую</a:t>
            </a:r>
            <a:endParaRPr lang="en-US" sz="14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тест поймал разряд батареи посреди переезда — добавили бюджет</a:t>
            </a:r>
            <a:endParaRPr lang="en-US" sz="14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почему LLM «зависали»: геометрия и перебор в промпте</a:t>
            </a:r>
            <a:endParaRPr lang="en-US" sz="1400" dirty="0"/>
          </a:p>
        </p:txBody>
      </p:sp>
      <p:sp>
        <p:nvSpPr>
          <p:cNvPr id="18" name="text_268"/>
          <p:cNvSpPr txBox="1"/>
          <p:nvPr/>
        </p:nvSpPr>
        <p:spPr>
          <a:xfrm>
            <a:off x="6355080" y="2286000"/>
            <a:ext cx="1325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3600" dirty="0"/>
          </a:p>
        </p:txBody>
      </p:sp>
      <p:sp>
        <p:nvSpPr>
          <p:cNvPr id="19" name="text_269"/>
          <p:cNvSpPr txBox="1"/>
          <p:nvPr/>
        </p:nvSpPr>
        <p:spPr>
          <a:xfrm>
            <a:off x="7726680" y="2395728"/>
            <a:ext cx="3886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коммитов за 2 дня</a:t>
            </a:r>
            <a:endParaRPr lang="en-US" sz="1400" dirty="0"/>
          </a:p>
        </p:txBody>
      </p:sp>
      <p:sp>
        <p:nvSpPr>
          <p:cNvPr id="20" name="text_270"/>
          <p:cNvSpPr txBox="1"/>
          <p:nvPr/>
        </p:nvSpPr>
        <p:spPr>
          <a:xfrm>
            <a:off x="6355080" y="3200400"/>
            <a:ext cx="1325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118</a:t>
            </a:r>
            <a:endParaRPr lang="en-US" sz="3600" dirty="0"/>
          </a:p>
        </p:txBody>
      </p:sp>
      <p:sp>
        <p:nvSpPr>
          <p:cNvPr id="21" name="text_271"/>
          <p:cNvSpPr txBox="1"/>
          <p:nvPr/>
        </p:nvSpPr>
        <p:spPr>
          <a:xfrm>
            <a:off x="7726680" y="3310128"/>
            <a:ext cx="3886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автотестов</a:t>
            </a:r>
            <a:endParaRPr lang="en-US" sz="1400" dirty="0"/>
          </a:p>
        </p:txBody>
      </p:sp>
      <p:sp>
        <p:nvSpPr>
          <p:cNvPr id="22" name="text_272"/>
          <p:cNvSpPr txBox="1"/>
          <p:nvPr/>
        </p:nvSpPr>
        <p:spPr>
          <a:xfrm>
            <a:off x="6355080" y="4114800"/>
            <a:ext cx="1325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3600" dirty="0"/>
          </a:p>
        </p:txBody>
      </p:sp>
      <p:sp>
        <p:nvSpPr>
          <p:cNvPr id="23" name="text_273"/>
          <p:cNvSpPr txBox="1"/>
          <p:nvPr/>
        </p:nvSpPr>
        <p:spPr>
          <a:xfrm>
            <a:off x="7726680" y="4224528"/>
            <a:ext cx="3886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вопросов организаторам с временными решениями</a:t>
            </a:r>
            <a:endParaRPr lang="en-US" sz="1400" dirty="0"/>
          </a:p>
        </p:txBody>
      </p:sp>
      <p:sp>
        <p:nvSpPr>
          <p:cNvPr id="24" name="rules_274"/>
          <p:cNvSpPr/>
          <p:nvPr/>
        </p:nvSpPr>
        <p:spPr>
          <a:xfrm>
            <a:off x="6355080" y="5074920"/>
            <a:ext cx="5287975" cy="960120"/>
          </a:xfrm>
          <a:prstGeom prst="roundRect">
            <a:avLst>
              <a:gd name="adj" fmla="val 7619"/>
            </a:avLst>
          </a:prstGeom>
          <a:solidFill>
            <a:schemeClr val="accent6"/>
          </a:solidFill>
          <a:ln/>
        </p:spPr>
      </p:sp>
      <p:sp>
        <p:nvSpPr>
          <p:cNvPr id="25" name="text_275"/>
          <p:cNvSpPr txBox="1"/>
          <p:nvPr/>
        </p:nvSpPr>
        <p:spPr>
          <a:xfrm>
            <a:off x="6537960" y="5138928"/>
            <a:ext cx="492221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Правила для ассистента: сначала план, sudo — только с разрешения, неясности — в QUESTIONS.md, логика без ROS и с тестами, всё запускается одной командой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554480"/>
            <a:ext cx="58521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Спасибо! Готовы к вопросам</a:t>
            </a:r>
            <a:endParaRPr lang="en-US" sz="4000" dirty="0"/>
          </a:p>
        </p:txBody>
      </p:sp>
      <p:sp>
        <p:nvSpPr>
          <p:cNvPr id="3" name="text_276">
            <a:hlinkClick r:id="rId1" tooltip=""/>
          </p:cNvPr>
          <p:cNvSpPr txBox="1"/>
          <p:nvPr/>
        </p:nvSpPr>
        <p:spPr>
          <a:xfrm>
            <a:off x="548640" y="3931920"/>
            <a:ext cx="5943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u="sng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github.com/TwoToTango123/innopolis-agent-turtle</a:t>
            </a:r>
            <a:endParaRPr lang="en-US" sz="1800" dirty="0"/>
          </a:p>
        </p:txBody>
      </p:sp>
      <p:sp>
        <p:nvSpPr>
          <p:cNvPr id="4" name="text_277"/>
          <p:cNvSpPr txBox="1"/>
          <p:nvPr/>
        </p:nvSpPr>
        <p:spPr>
          <a:xfrm>
            <a:off x="548640" y="4389120"/>
            <a:ext cx="5760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Код, журнал разработки, резюме проекта, скриншоты и логи прогонов</a:t>
            </a:r>
            <a:endParaRPr lang="en-US" sz="1400" dirty="0"/>
          </a:p>
        </p:txBody>
      </p:sp>
      <p:sp>
        <p:nvSpPr>
          <p:cNvPr id="5" name="role_icon_bg_278"/>
          <p:cNvSpPr/>
          <p:nvPr/>
        </p:nvSpPr>
        <p:spPr>
          <a:xfrm>
            <a:off x="7406640" y="1554480"/>
            <a:ext cx="777240" cy="7772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6" name="role_icon_279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3178" y="1741018"/>
            <a:ext cx="404165" cy="404165"/>
          </a:xfrm>
          <a:prstGeom prst="rect">
            <a:avLst/>
          </a:prstGeom>
        </p:spPr>
      </p:pic>
      <p:sp>
        <p:nvSpPr>
          <p:cNvPr id="7" name="text_280"/>
          <p:cNvSpPr txBox="1"/>
          <p:nvPr/>
        </p:nvSpPr>
        <p:spPr>
          <a:xfrm>
            <a:off x="8412480" y="160020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Илья Жензиров</a:t>
            </a:r>
            <a:endParaRPr lang="en-US" sz="1800" dirty="0"/>
          </a:p>
        </p:txBody>
      </p:sp>
      <p:sp>
        <p:nvSpPr>
          <p:cNvPr id="8" name="text_281"/>
          <p:cNvSpPr txBox="1"/>
          <p:nvPr/>
        </p:nvSpPr>
        <p:spPr>
          <a:xfrm>
            <a:off x="8412480" y="196596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Разработчик Back / ROS</a:t>
            </a:r>
            <a:endParaRPr lang="en-US" sz="1400" dirty="0"/>
          </a:p>
        </p:txBody>
      </p:sp>
      <p:sp>
        <p:nvSpPr>
          <p:cNvPr id="9" name="role_icon_bg_282"/>
          <p:cNvSpPr/>
          <p:nvPr/>
        </p:nvSpPr>
        <p:spPr>
          <a:xfrm>
            <a:off x="7406640" y="2880360"/>
            <a:ext cx="777240" cy="777240"/>
          </a:xfrm>
          <a:prstGeom prst="ellipse">
            <a:avLst/>
          </a:prstGeom>
          <a:solidFill>
            <a:schemeClr val="accent4"/>
          </a:solidFill>
          <a:ln/>
        </p:spPr>
      </p:sp>
      <p:pic>
        <p:nvPicPr>
          <p:cNvPr id="10" name="role_icon_283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93178" y="3066898"/>
            <a:ext cx="404165" cy="404165"/>
          </a:xfrm>
          <a:prstGeom prst="rect">
            <a:avLst/>
          </a:prstGeom>
        </p:spPr>
      </p:pic>
      <p:sp>
        <p:nvSpPr>
          <p:cNvPr id="11" name="text_284"/>
          <p:cNvSpPr txBox="1"/>
          <p:nvPr/>
        </p:nvSpPr>
        <p:spPr>
          <a:xfrm>
            <a:off x="8412480" y="292608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Смирнов Константин</a:t>
            </a:r>
            <a:endParaRPr lang="en-US" sz="1800" dirty="0"/>
          </a:p>
        </p:txBody>
      </p:sp>
      <p:sp>
        <p:nvSpPr>
          <p:cNvPr id="12" name="text_285"/>
          <p:cNvSpPr txBox="1"/>
          <p:nvPr/>
        </p:nvSpPr>
        <p:spPr>
          <a:xfrm>
            <a:off x="8412480" y="329184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ML-инженер (LLM)</a:t>
            </a:r>
            <a:endParaRPr lang="en-US" sz="1400" dirty="0"/>
          </a:p>
        </p:txBody>
      </p:sp>
      <p:sp>
        <p:nvSpPr>
          <p:cNvPr id="13" name="role_icon_bg_286"/>
          <p:cNvSpPr/>
          <p:nvPr/>
        </p:nvSpPr>
        <p:spPr>
          <a:xfrm>
            <a:off x="7406640" y="4206240"/>
            <a:ext cx="777240" cy="77724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14" name="role_icon_287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93178" y="4392778"/>
            <a:ext cx="404165" cy="404165"/>
          </a:xfrm>
          <a:prstGeom prst="rect">
            <a:avLst/>
          </a:prstGeom>
        </p:spPr>
      </p:pic>
      <p:sp>
        <p:nvSpPr>
          <p:cNvPr id="15" name="text_288"/>
          <p:cNvSpPr txBox="1"/>
          <p:nvPr/>
        </p:nvSpPr>
        <p:spPr>
          <a:xfrm>
            <a:off x="8412480" y="425196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Лобачев Андрей</a:t>
            </a:r>
            <a:endParaRPr lang="en-US" sz="1800" dirty="0"/>
          </a:p>
        </p:txBody>
      </p:sp>
      <p:sp>
        <p:nvSpPr>
          <p:cNvPr id="16" name="text_289"/>
          <p:cNvSpPr txBox="1"/>
          <p:nvPr/>
        </p:nvSpPr>
        <p:spPr>
          <a:xfrm>
            <a:off x="8412480" y="461772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Аналитик-исследователь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DID Hack Lab">
  <a:themeElements>
    <a:clrScheme name="DID Hack Lab">
      <a:dk1>
        <a:srgbClr val="14202B"/>
      </a:dk1>
      <a:lt1>
        <a:srgbClr val="FFFFFF"/>
      </a:lt1>
      <a:dk2>
        <a:srgbClr val="22323F"/>
      </a:dk2>
      <a:lt2>
        <a:srgbClr val="EEF3F1"/>
      </a:lt2>
      <a:accent1>
        <a:srgbClr val="0E7C66"/>
      </a:accent1>
      <a:accent2>
        <a:srgbClr val="F2A900"/>
      </a:accent2>
      <a:accent3>
        <a:srgbClr val="D1495B"/>
      </a:accent3>
      <a:accent4>
        <a:srgbClr val="5B6B7A"/>
      </a:accent4>
      <a:accent5>
        <a:srgbClr val="9AD1C0"/>
      </a:accent5>
      <a:accent6>
        <a:srgbClr val="FCE6A8"/>
      </a:accent6>
      <a:hlink>
        <a:srgbClr val="0E7C66"/>
      </a:hlink>
      <a:folHlink>
        <a:srgbClr val="5B6B7A"/>
      </a:folHlink>
    </a:clrScheme>
    <a:fontScheme name="DID Hack Lab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DID Hack 2026 — защита прототипа, команда IKA</dc:title>
  <dc:subject>PptxGenJS Presentation</dc:subject>
  <dc:creator>Команда IKA</dc:creator>
  <cp:lastModifiedBy>Команда IKA</cp:lastModifiedBy>
  <cp:revision>1</cp:revision>
  <dcterms:created xsi:type="dcterms:W3CDTF">2026-10-08T13:38:53Z</dcterms:created>
  <dcterms:modified xsi:type="dcterms:W3CDTF">2026-10-08T13:38:53Z</dcterms:modified>
</cp:coreProperties>
</file>